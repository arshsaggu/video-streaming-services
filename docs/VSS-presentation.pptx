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80c1e4-61c2-b38b-71f9-3ccf82019c92}">
          <p14:sldIdLst>
            <p14:sldId id="256"/>
            <p14:sldId id="257"/>
          </p14:sldIdLst>
        </p14:section>
        <p14:section name="Architecture" id="{469a2a27-c4cc-0203-7e83-e459d0f5e533}">
          <p14:sldIdLst>
            <p14:sldId id="258"/>
            <p14:sldId id="259"/>
            <p14:sldId id="260"/>
          </p14:sldIdLst>
        </p14:section>
        <p14:section name="Docker" id="{2277f93f-2572-43a3-54cf-d2d0b76c470a}">
          <p14:sldIdLst>
            <p14:sldId id="261"/>
            <p14:sldId id="262"/>
            <p14:sldId id="263"/>
          </p14:sldIdLst>
        </p14:section>
        <p14:section name="Security and reliability" id="{dd6334d9-4f1e-3757-e3ba-a1f765d541e0}">
          <p14:sldIdLst>
            <p14:sldId id="264"/>
            <p14:sldId id="265"/>
            <p14:sldId id="266"/>
          </p14:sldIdLst>
        </p14:section>
        <p14:section name="Performance" id="{32dd1b38-8042-7f0c-1618-94319f4413cb}">
          <p14:sldIdLst>
            <p14:sldId id="267"/>
            <p14:sldId id="268"/>
          </p14:sldIdLst>
        </p14:section>
        <p14:section name="CI/CD and testing" id="{ea12c531-e250-99ff-2168-5f9fa404dbbd}">
          <p14:sldIdLst>
            <p14:sldId id="269"/>
            <p14:sldId id="270"/>
          </p14:sldIdLst>
        </p14:section>
        <p14:section name="Wrap-up" id="{de30e1e3-688c-6cca-64cd-054ccc05747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1D1F"/>
                </a:solidFill>
                <a:latin typeface="+mn-lt"/>
              </a:defRPr>
            </a:pPr>
            <a:r>
              <a:rPr sz="1300" b="0" i="0" u="none" strike="noStrike">
                <a:solidFill>
                  <a:srgbClr val="1D1D1F"/>
                </a:solidFill>
                <a:latin typeface="+mn-lt"/>
              </a:rPr>
              <a:t>Max throughput (req/s), 30 users, no think time</a:t>
            </a:r>
          </a:p>
        </c:rich>
      </c:tx>
      <c:layout/>
      <c:overlay val="0"/>
    </c:title>
    <c:autoTitleDeleted val="0"/>
    <c:plotArea>
      <c:layout/>
      <c:barChart>
        <c:barDir val="col"/>
        <c:grouping val="clustered"/>
        <c:varyColors val="0"/>
        <c:ser>
          <c:idx val="0"/>
          <c:order val="0"/>
          <c:tx>
            <c:strRef>
              <c:f>Sheet1!$B$1</c:f>
              <c:strCache>
                <c:ptCount val="1"/>
                <c:pt idx="0">
                  <c:v>Requests per second</c:v>
                </c:pt>
              </c:strCache>
            </c:strRef>
          </c:tx>
          <c:spPr>
            <a:solidFill>
              <a:srgbClr val="6B6B70"/>
            </a:solidFill>
            <a:effectLst/>
          </c:spPr>
          <c:invertIfNegative val="0"/>
          <c:dLbls>
            <c:numFmt formatCode="#,##0" sourceLinked="0"/>
            <c:txPr>
              <a:bodyPr/>
              <a:lstStyle/>
              <a:p>
                <a:pPr>
                  <a:defRPr b="0" i="0" strike="noStrike" sz="1200" u="none">
                    <a:solidFill>
                      <a:srgbClr val="1D1D1F"/>
                    </a:solidFill>
                    <a:latin typeface="+mn-lt"/>
                  </a:defRPr>
                </a:pPr>
              </a:p>
            </c:txPr>
            <c:showLegendKey val="0"/>
            <c:showVal val="1"/>
            <c:showCatName val="0"/>
            <c:showSerName val="0"/>
            <c:showPercent val="0"/>
            <c:showBubbleSize val="0"/>
            <c:showLeaderLines val="0"/>
          </c:dLbls>
          <c:dPt>
            <c:idx val="0"/>
            <c:invertIfNegative val="0"/>
            <c:bubble3D val="0"/>
            <c:spPr>
              <a:solidFill>
                <a:srgbClr val="6B6B70"/>
              </a:solidFill>
              <a:effectLst/>
            </c:spPr>
          </c:dPt>
          <c:dPt>
            <c:idx val="1"/>
            <c:invertIfNegative val="0"/>
            <c:bubble3D val="0"/>
            <c:spPr>
              <a:solidFill>
                <a:srgbClr val="2C4A86"/>
              </a:solidFill>
              <a:effectLst/>
            </c:spPr>
          </c:dPt>
          <c:dPt>
            <c:idx val="2"/>
            <c:invertIfNegative val="0"/>
            <c:bubble3D val="0"/>
            <c:spPr>
              <a:solidFill>
                <a:srgbClr val="D6452F"/>
              </a:solidFill>
              <a:effectLst/>
            </c:spPr>
          </c:dPt>
          <c:cat>
            <c:multiLvlStrRef>
              <c:f>Sheet1!$A$2:$A$4</c:f>
              <c:multiLvlStrCache>
                <c:ptCount val="3"/>
                <c:lvl>
                  <c:pt idx="0">
                    <c:v>Baseline</c:v>
                  </c:pt>
                  <c:pt idx="1">
                    <c:v>+ verify cache</c:v>
                  </c:pt>
                  <c:pt idx="2">
                    <c:v>+ keep-alive</c:v>
                  </c:pt>
                </c:lvl>
              </c:multiLvlStrCache>
            </c:multiLvlStrRef>
          </c:cat>
          <c:val>
            <c:numRef>
              <c:f>Sheet1!$B$2:$B$4</c:f>
              <c:numCache>
                <c:formatCode>General</c:formatCode>
                <c:ptCount val="3"/>
                <c:pt idx="0">
                  <c:v>611</c:v>
                </c:pt>
                <c:pt idx="1">
                  <c:v>1576</c:v>
                </c:pt>
                <c:pt idx="2">
                  <c:v>1861</c:v>
                </c:pt>
              </c:numCache>
            </c:numRef>
          </c:val>
        </c:ser>
        <c:dLbls>
          <c:numFmt formatCode="#,##0" sourceLinked="0"/>
          <c:txPr>
            <a:bodyPr/>
            <a:lstStyle/>
            <a:p>
              <a:pPr>
                <a:defRPr b="0" i="0" strike="noStrike" sz="1200" u="none">
                  <a:solidFill>
                    <a:srgbClr val="1D1D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B7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2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1D1F"/>
                </a:solidFill>
                <a:latin typeface="+mn-lt"/>
              </a:defRPr>
            </a:pPr>
            <a:r>
              <a:rPr sz="1300" b="0" i="0" u="none" strike="noStrike">
                <a:solidFill>
                  <a:srgbClr val="1D1D1F"/>
                </a:solidFill>
                <a:latin typeface="+mn-lt"/>
              </a:rPr>
              <a:t>File service: full 8 MB downloads per second by read buffer</a:t>
            </a:r>
          </a:p>
        </c:rich>
      </c:tx>
      <c:layout/>
      <c:overlay val="0"/>
    </c:title>
    <c:autoTitleDeleted val="0"/>
    <c:plotArea>
      <c:layout/>
      <c:barChart>
        <c:barDir val="col"/>
        <c:grouping val="clustered"/>
        <c:varyColors val="0"/>
        <c:ser>
          <c:idx val="0"/>
          <c:order val="0"/>
          <c:tx>
            <c:strRef>
              <c:f>Sheet1!$B$1</c:f>
              <c:strCache>
                <c:ptCount val="1"/>
                <c:pt idx="0">
                  <c:v>Requests per second</c:v>
                </c:pt>
              </c:strCache>
            </c:strRef>
          </c:tx>
          <c:spPr>
            <a:solidFill>
              <a:srgbClr val="6B6B70"/>
            </a:solidFill>
            <a:effectLst/>
          </c:spPr>
          <c:invertIfNegative val="0"/>
          <c:dLbls>
            <c:numFmt formatCode="#,##0" sourceLinked="0"/>
            <c:txPr>
              <a:bodyPr/>
              <a:lstStyle/>
              <a:p>
                <a:pPr>
                  <a:defRPr b="0" i="0" strike="noStrike" sz="1200" u="none">
                    <a:solidFill>
                      <a:srgbClr val="1D1D1F"/>
                    </a:solidFill>
                    <a:latin typeface="+mn-lt"/>
                  </a:defRPr>
                </a:pPr>
              </a:p>
            </c:txPr>
            <c:showLegendKey val="0"/>
            <c:showVal val="1"/>
            <c:showCatName val="0"/>
            <c:showSerName val="0"/>
            <c:showPercent val="0"/>
            <c:showBubbleSize val="0"/>
            <c:showLeaderLines val="0"/>
          </c:dLbls>
          <c:dPt>
            <c:idx val="0"/>
            <c:invertIfNegative val="0"/>
            <c:bubble3D val="0"/>
            <c:spPr>
              <a:solidFill>
                <a:srgbClr val="6B6B70"/>
              </a:solidFill>
              <a:effectLst/>
            </c:spPr>
          </c:dPt>
          <c:dPt>
            <c:idx val="1"/>
            <c:invertIfNegative val="0"/>
            <c:bubble3D val="0"/>
            <c:spPr>
              <a:solidFill>
                <a:srgbClr val="2C4A86"/>
              </a:solidFill>
              <a:effectLst/>
            </c:spPr>
          </c:dPt>
          <c:dPt>
            <c:idx val="2"/>
            <c:invertIfNegative val="0"/>
            <c:bubble3D val="0"/>
            <c:spPr>
              <a:solidFill>
                <a:srgbClr val="D6452F"/>
              </a:solidFill>
              <a:effectLst/>
            </c:spPr>
          </c:dPt>
          <c:cat>
            <c:multiLvlStrRef>
              <c:f>Sheet1!$A$2:$A$4</c:f>
              <c:multiLvlStrCache>
                <c:ptCount val="3"/>
                <c:lvl>
                  <c:pt idx="0">
                    <c:v>64 KiB (default)</c:v>
                  </c:pt>
                  <c:pt idx="1">
                    <c:v>256 KiB</c:v>
                  </c:pt>
                  <c:pt idx="2">
                    <c:v>1 MiB (chosen)</c:v>
                  </c:pt>
                </c:lvl>
              </c:multiLvlStrCache>
            </c:multiLvlStrRef>
          </c:cat>
          <c:val>
            <c:numRef>
              <c:f>Sheet1!$B$2:$B$4</c:f>
              <c:numCache>
                <c:formatCode>General</c:formatCode>
                <c:ptCount val="3"/>
                <c:pt idx="0">
                  <c:v>161</c:v>
                </c:pt>
                <c:pt idx="1">
                  <c:v>221</c:v>
                </c:pt>
                <c:pt idx="2">
                  <c:v>278</c:v>
                </c:pt>
              </c:numCache>
            </c:numRef>
          </c:val>
        </c:ser>
        <c:dLbls>
          <c:numFmt formatCode="#,##0" sourceLinked="0"/>
          <c:txPr>
            <a:bodyPr/>
            <a:lstStyle/>
            <a:p>
              <a:pPr>
                <a:defRPr b="0" i="0" strike="noStrike" sz="1200" u="none">
                  <a:solidFill>
                    <a:srgbClr val="1D1D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B7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2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chose option 2, the video streaming system. Five containers, two programming languages (Node.js and Python), one Compose file. The talk covers what it does, how it is built and secured, and the evidence: failure tests, persistence, performance and CI/CD.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services: four we wrote plus MySQL from the official image, matching the five boxes in the brief. Walk through why each language: Node.js for the three I/O-heavy services (both web apps and the file service), because its streams handle uploads and Range downloads with backpressure; the file service uses no npm packages at all. Python for auth because of mature JWT and hashing libraries. MySQL stores users and video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diagram. Red arrows are the only traffic that reaches the system from outside: ports 8081 and 8082. Everything else sits on the backend network, which is internal: true, so it cannot be reached from the host and cannot reach the internet. The web apps are the only bridge. Web apps validate sessions by calling the auth service, so only auth holds the JWT signing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 the browser sends the raw file; metadata travels in headers so the body can be streamed. A magic-byte check rejects a renamed .exe after the first 12 bytes. The file service writes to a temp file, fsyncs, and publishes it atomically with a hard link, which can never overwrite an existing video. If the MySQL insert fails, the file is deleted again: a compensating action so storage and metadata never disagree. Watch: the video tag sends Range requests; we forward Range to the file service, which answers 206 Partial Content, so seeking works without downloading the whole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screenshots come from a real browser run: a WebM test video was uploaded through the UI, then played and seeked in the streaming app. Switch to the live demo here if time allows: log in as admin, create an uploader, upload, then watch as a self-registered viewer and show that the viewer gets 403 on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Dockerfile has a test stage, so CI tests the image exactly as built. Layer ordering: package files are copied and installed first, so editing code does not reinstall dependencies. Multi-arch: buildx builds amd64 and arm64; all dependencies are pure JavaScript or pure Python, so nothing is compiled per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replace the red "Your measured number" cells with the output of scripts/measure-images.sh before presenting. It builds both Dockerfiles cold (--no-cache), edits one source line and rebuilds warm, and records the image size. Expect the file-service image to drop from roughly 1 GB (full Debian node:22) to a fraction of that on distroless Node, and the warm rebuild of the naive Node image to re-run npm install while the optimised one reuses the cached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Docker gives an internal network no gateway, so MySQL, auth and the file service are unreachable from outside. Persistence: scripts/persistence-test.sh uploads a file, records its sha256, removes the stateful containers with docker compose rm, brings them back, and checks that the user, metadata and exact bytes survived. Show results/persistence-test.txt.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are files, not environment variables, so they do not show in docker inspect. Self-registration always creates a viewer, even if the request asks for admin. Forged, expired and alg:none tokens are rejected (unit-tested). CSRF: SameSite=Strict plus a required X-Requested-With header. Validation errors return field names only, never the submitted password. Scan results: paste the table from scripts/scan.sh into the report and be ready to explain any remaining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design point: Docker health checks use liveness, not readiness. If a web app reported unhealthy whenever MySQL was down, every container would go unhealthy and restarts would cascade. Instead /readyz shows which dependency is down, and the apps return 503 with a clear message and reconnect on their own. Scenario 3 in the Docker script kills the auth process and shows Docker's restart policy bringing it back (RestartCount increments).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are justified by measured memory: the file service peaked at about 120 MB with 8 parallel full-file downloads, so its limit was raised from 128 to 192 MB; auth peaked at 61 MB per worker. Every container also has a pids limit of 100. Logs are one JSON line per event; the web apps pass X-Request-ID to auth and file service, so grep for one id shows a whole user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the same k6 script and seed data, one change per run. In the baseline every request called the auth service, and that single Python process hit 63% CPU: it was the bottleneck. Caching successful verifications for 30 seconds removed auth from the hot path: 2.6x. Keep-alive connection reuse to internal services then gave another 18% and cut p95 latency by 24%. Measured on native processes on a 2-vCPU VM with an in-memory store instead of MySQL; scripts/loadtest.sh repeats it in Docker. Trade-off to mention: a disabled account keeps access for up to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improvement: Node file streams read 64 KiB at a time by default, so an 8 MB video costs 128 trips through the event loop. Reading 1 MiB at a time means 16x fewer chunks: the same CPU (one event loop at ~100%) moves 73% more data with 42% lower latency. Memory barely changed because it is dominated by socket buffers. Right: under normal load with think time, throughput is set by the users, so the cache shows up as latency, down two thirds. Keep-alive made no measurable difference at this light load; its benefit appears at saturation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requests run everything but push nothing. Pushes to main publish images tagged with the short commit SHA (immutable and traceable), the branch name, and latest; v* git tags add semver tags. Login uses the per-run GITHUB_TOKEN, so there are no stored credentials. Show a screenshot of a green run and the GHCR package page with both architectures.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passing at hand-in. Unit tests need no database: repositories are injected, with in-memory fakes. The end-to-end smoke test runs inside the Compose network in Docker, so it also checks that internal services cannot be reached from the frontend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not validate JWTs locally? It would share the signing key with every web app and lose instant revocation; the 30 s cache gives most of the speed. Why a token on the file service if the network is private? Defence in depth. What if the DB insert fails after upload? The file is deleted and the user gets 503. How would it scale? The web apps are stateless: scale them behind a load balancer, and move files to object storage behind the same API. Production? TLS with COOKIE_SECURE=true, orchestrator secrets, restart on unhealthy, HLS transcoding.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651760"/>
            <a:ext cx="8046720" cy="914400"/>
          </a:xfrm>
          <a:prstGeom prst="rect">
            <a:avLst/>
          </a:prstGeom>
          <a:noFill/>
          <a:ln/>
        </p:spPr>
        <p:txBody>
          <a:bodyPr wrap="square" rtlCol="0"/>
          <a:lstStyle>
            <a:lvl1pPr indent="0" marL="0">
              <a:buNone/>
              <a:defRPr lang="en-US" sz="1800" dirty="0">
                <a:solidFill>
                  <a:srgbClr val="C9CAD0"/>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CIT3495 · Video Streaming System</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dot"/>
          <p:cNvSpPr/>
          <p:nvPr/>
        </p:nvSpPr>
        <p:spPr>
          <a:xfrm>
            <a:off x="548640" y="960120"/>
            <a:ext cx="292608" cy="292608"/>
          </a:xfrm>
          <a:prstGeom prst="ellipse">
            <a:avLst/>
          </a:prstGeom>
          <a:solidFill>
            <a:schemeClr val="accent1"/>
          </a:solidFill>
          <a:ln w="12700">
            <a:solidFill>
              <a:schemeClr val="accent1"/>
            </a:solidFill>
            <a:prstDash val="solid"/>
          </a:ln>
        </p:spPr>
      </p:sp>
      <p:sp>
        <p:nvSpPr>
          <p:cNvPr id="3" name="Text 1"/>
          <p:cNvSpPr txBox="1"/>
          <p:nvPr/>
        </p:nvSpPr>
        <p:spPr>
          <a:xfrm>
            <a:off x="960120" y="960120"/>
            <a:ext cx="5486400" cy="292608"/>
          </a:xfrm>
          <a:prstGeom prst="rect">
            <a:avLst/>
          </a:prstGeom>
          <a:noFill/>
          <a:ln/>
        </p:spPr>
        <p:txBody>
          <a:bodyPr wrap="square" lIns="0" tIns="0" rIns="0" bIns="0" rtlCol="0" anchor="ctr"/>
          <a:lstStyle/>
          <a:p>
            <a:pPr indent="0" marL="0">
              <a:buNone/>
            </a:pPr>
            <a:r>
              <a:rPr lang="en-US" sz="1200" b="1" spc="200" kern="0" dirty="0">
                <a:solidFill>
                  <a:srgbClr val="C9CAD0"/>
                </a:solidFill>
              </a:rPr>
              <a:t>CIT3495 · PROJECT 1 · OPTION 2</a:t>
            </a:r>
            <a:endParaRPr lang="en-US" sz="1200" dirty="0"/>
          </a:p>
        </p:txBody>
      </p:sp>
      <p:sp>
        <p:nvSpPr>
          <p:cNvPr id="4" name="Text 0"/>
          <p:cNvSpPr/>
          <p:nvPr>
            <p:ph idx="100" type="title" hasCustomPrompt="1"/>
          </p:nvPr>
        </p:nvSpPr>
        <p:spPr>
          <a:xfrm>
            <a:off x="548640" y="1417320"/>
            <a:ext cx="8046720" cy="1097280"/>
          </a:xfrm>
          <a:prstGeom prst="rect">
            <a:avLst/>
          </a:prstGeom>
          <a:noFill/>
          <a:ln/>
        </p:spPr>
        <p:txBody>
          <a:bodyPr wrap="square" lIns="0" tIns="0" rIns="0" bIns="0" rtlCol="0" anchor="b"/>
          <a:lstStyle/>
          <a:p>
            <a:pPr algn="l" indent="0" marL="0">
              <a:buNone/>
            </a:pPr>
            <a:r>
              <a:rPr lang="en-US" sz="4400" b="1" dirty="0">
                <a:solidFill>
                  <a:schemeClr val="bg1"/>
                </a:solidFill>
              </a:rPr>
              <a:t>Video Streaming System</a:t>
            </a:r>
            <a:endParaRPr lang="en-US" sz="4400" dirty="0"/>
          </a:p>
        </p:txBody>
      </p:sp>
      <p:sp>
        <p:nvSpPr>
          <p:cNvPr id="5" name="Text 0"/>
          <p:cNvSpPr/>
          <p:nvPr>
            <p:ph idx="101" type="body" hasCustomPrompt="1"/>
          </p:nvPr>
        </p:nvSpPr>
        <p:spPr>
          <a:xfrm>
            <a:off x="548640" y="2651760"/>
            <a:ext cx="8046720" cy="914400"/>
          </a:xfrm>
          <a:prstGeom prst="rect">
            <a:avLst/>
          </a:prstGeom>
          <a:noFill/>
          <a:ln/>
        </p:spPr>
        <p:txBody>
          <a:bodyPr wrap="square" lIns="0" tIns="0" rIns="0" bIns="0" rtlCol="0" anchor="t"/>
          <a:lstStyle/>
          <a:p>
            <a:pPr indent="0" marL="0">
              <a:buNone/>
            </a:pPr>
            <a:r>
              <a:rPr lang="en-US" sz="1800" dirty="0">
                <a:solidFill>
                  <a:srgbClr val="C9CAD0"/>
                </a:solidFill>
              </a:rPr>
              <a:t>Containerised microservices: upload, authenticate, store and stream video with Docker Compose</a:t>
            </a:r>
            <a:endParaRPr lang="en-US" sz="1800" dirty="0"/>
          </a:p>
        </p:txBody>
      </p:sp>
      <p:sp>
        <p:nvSpPr>
          <p:cNvPr id="6" name="Text 4"/>
          <p:cNvSpPr txBox="1"/>
          <p:nvPr/>
        </p:nvSpPr>
        <p:spPr>
          <a:xfrm>
            <a:off x="548640" y="4206240"/>
            <a:ext cx="7315200" cy="320040"/>
          </a:xfrm>
          <a:prstGeom prst="rect">
            <a:avLst/>
          </a:prstGeom>
          <a:noFill/>
          <a:ln/>
        </p:spPr>
        <p:txBody>
          <a:bodyPr wrap="square" lIns="0" tIns="0" rIns="0" bIns="0" rtlCol="0" anchor="t"/>
          <a:lstStyle/>
          <a:p>
            <a:pPr indent="0" marL="0">
              <a:buNone/>
            </a:pPr>
            <a:r>
              <a:rPr lang="en-US" sz="1400" b="1" dirty="0">
                <a:solidFill>
                  <a:schemeClr val="accent1"/>
                </a:solidFill>
              </a:rPr>
              <a:t>Node.js  ·  Python  ·  MySQL 8.4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Five services, one Compose file</a:t>
            </a:r>
            <a:endParaRPr lang="en-US" sz="3200" dirty="0"/>
          </a:p>
        </p:txBody>
      </p:sp>
      <p:sp>
        <p:nvSpPr>
          <p:cNvPr id="3" name="Service card 1"/>
          <p:cNvSpPr/>
          <p:nvPr/>
        </p:nvSpPr>
        <p:spPr>
          <a:xfrm>
            <a:off x="457200" y="1097280"/>
            <a:ext cx="4023360" cy="1143000"/>
          </a:xfrm>
          <a:prstGeom prst="roundRect">
            <a:avLst>
              <a:gd name="adj" fmla="val 6400"/>
            </a:avLst>
          </a:prstGeom>
          <a:solidFill>
            <a:schemeClr val="bg2"/>
          </a:solidFill>
          <a:ln w="12700">
            <a:solidFill>
              <a:schemeClr val="bg2"/>
            </a:solidFill>
            <a:prstDash val="solid"/>
          </a:ln>
        </p:spPr>
      </p:sp>
      <p:sp>
        <p:nvSpPr>
          <p:cNvPr id="4" name="Service 1 circle"/>
          <p:cNvSpPr/>
          <p:nvPr/>
        </p:nvSpPr>
        <p:spPr>
          <a:xfrm>
            <a:off x="685800" y="1371600"/>
            <a:ext cx="594360" cy="594360"/>
          </a:xfrm>
          <a:prstGeom prst="ellipse">
            <a:avLst/>
          </a:prstGeom>
          <a:solidFill>
            <a:schemeClr val="bg1"/>
          </a:solidFill>
          <a:ln w="12700">
            <a:solidFill>
              <a:schemeClr val="bg1"/>
            </a:solidFill>
            <a:prstDash val="solid"/>
          </a:ln>
        </p:spPr>
      </p:sp>
      <p:pic>
        <p:nvPicPr>
          <p:cNvPr id="5" name="Service 1 icon" descr="preencoded.png">    </p:cNvPr>
          <p:cNvPicPr>
            <a:picLocks noChangeAspect="1"/>
          </p:cNvPicPr>
          <p:nvPr/>
        </p:nvPicPr>
        <p:blipFill>
          <a:blip r:embed="rId1"/>
          <a:stretch>
            <a:fillRect/>
          </a:stretch>
        </p:blipFill>
        <p:spPr>
          <a:xfrm>
            <a:off x="822960" y="1508760"/>
            <a:ext cx="320040" cy="320040"/>
          </a:xfrm>
          <a:prstGeom prst="rect">
            <a:avLst/>
          </a:prstGeom>
        </p:spPr>
      </p:pic>
      <p:sp>
        <p:nvSpPr>
          <p:cNvPr id="6" name="Text 3"/>
          <p:cNvSpPr txBox="1"/>
          <p:nvPr/>
        </p:nvSpPr>
        <p:spPr>
          <a:xfrm>
            <a:off x="1463040" y="1216152"/>
            <a:ext cx="2880360" cy="292608"/>
          </a:xfrm>
          <a:prstGeom prst="rect">
            <a:avLst/>
          </a:prstGeom>
          <a:noFill/>
          <a:ln/>
        </p:spPr>
        <p:txBody>
          <a:bodyPr wrap="square" lIns="0" tIns="0" rIns="0" bIns="0" rtlCol="0" anchor="t"/>
          <a:lstStyle/>
          <a:p>
            <a:pPr indent="0" marL="0">
              <a:buNone/>
            </a:pPr>
            <a:r>
              <a:rPr lang="en-US" sz="1600" b="1" dirty="0">
                <a:solidFill>
                  <a:schemeClr val="tx1"/>
                </a:solidFill>
              </a:rPr>
              <a:t>Upload Video web app</a:t>
            </a:r>
            <a:endParaRPr lang="en-US" sz="1600" dirty="0"/>
          </a:p>
        </p:txBody>
      </p:sp>
      <p:sp>
        <p:nvSpPr>
          <p:cNvPr id="7" name="Text 4"/>
          <p:cNvSpPr txBox="1"/>
          <p:nvPr/>
        </p:nvSpPr>
        <p:spPr>
          <a:xfrm>
            <a:off x="1463040" y="1508760"/>
            <a:ext cx="2880360" cy="237744"/>
          </a:xfrm>
          <a:prstGeom prst="rect">
            <a:avLst/>
          </a:prstGeom>
          <a:noFill/>
          <a:ln/>
        </p:spPr>
        <p:txBody>
          <a:bodyPr wrap="square" lIns="0" tIns="0" rIns="0" bIns="0" rtlCol="0" anchor="t"/>
          <a:lstStyle/>
          <a:p>
            <a:pPr indent="0" marL="0">
              <a:buNone/>
            </a:pPr>
            <a:r>
              <a:rPr lang="en-US" sz="1200" b="1" dirty="0">
                <a:solidFill>
                  <a:schemeClr val="accent1"/>
                </a:solidFill>
              </a:rPr>
              <a:t>Node.js 22 · port 8081</a:t>
            </a:r>
            <a:endParaRPr lang="en-US" sz="1200" dirty="0"/>
          </a:p>
        </p:txBody>
      </p:sp>
      <p:sp>
        <p:nvSpPr>
          <p:cNvPr id="8" name="Text 5"/>
          <p:cNvSpPr txBox="1"/>
          <p:nvPr/>
        </p:nvSpPr>
        <p:spPr>
          <a:xfrm>
            <a:off x="1463040" y="1783080"/>
            <a:ext cx="2880360" cy="384048"/>
          </a:xfrm>
          <a:prstGeom prst="rect">
            <a:avLst/>
          </a:prstGeom>
          <a:noFill/>
          <a:ln/>
        </p:spPr>
        <p:txBody>
          <a:bodyPr wrap="square" lIns="0" tIns="0" rIns="0" bIns="0" rtlCol="0" anchor="t"/>
          <a:lstStyle/>
          <a:p>
            <a:pPr indent="0" marL="0">
              <a:buNone/>
            </a:pPr>
            <a:r>
              <a:rPr lang="en-US" sz="1200" dirty="0">
                <a:solidFill>
                  <a:schemeClr val="accent6"/>
                </a:solidFill>
              </a:rPr>
              <a:t>Login, streamed uploads, content checks, admin users</a:t>
            </a:r>
            <a:endParaRPr lang="en-US" sz="1200" dirty="0"/>
          </a:p>
        </p:txBody>
      </p:sp>
      <p:sp>
        <p:nvSpPr>
          <p:cNvPr id="9" name="Service card 2"/>
          <p:cNvSpPr/>
          <p:nvPr/>
        </p:nvSpPr>
        <p:spPr>
          <a:xfrm>
            <a:off x="4663440" y="1097280"/>
            <a:ext cx="4023360" cy="1143000"/>
          </a:xfrm>
          <a:prstGeom prst="roundRect">
            <a:avLst>
              <a:gd name="adj" fmla="val 6400"/>
            </a:avLst>
          </a:prstGeom>
          <a:solidFill>
            <a:schemeClr val="bg2"/>
          </a:solidFill>
          <a:ln w="12700">
            <a:solidFill>
              <a:schemeClr val="bg2"/>
            </a:solidFill>
            <a:prstDash val="solid"/>
          </a:ln>
        </p:spPr>
      </p:sp>
      <p:sp>
        <p:nvSpPr>
          <p:cNvPr id="10" name="Service 2 circle"/>
          <p:cNvSpPr/>
          <p:nvPr/>
        </p:nvSpPr>
        <p:spPr>
          <a:xfrm>
            <a:off x="4892040" y="1371600"/>
            <a:ext cx="594360" cy="594360"/>
          </a:xfrm>
          <a:prstGeom prst="ellipse">
            <a:avLst/>
          </a:prstGeom>
          <a:solidFill>
            <a:schemeClr val="bg1"/>
          </a:solidFill>
          <a:ln w="12700">
            <a:solidFill>
              <a:schemeClr val="bg1"/>
            </a:solidFill>
            <a:prstDash val="solid"/>
          </a:ln>
        </p:spPr>
      </p:sp>
      <p:pic>
        <p:nvPicPr>
          <p:cNvPr id="11" name="Service 2 icon" descr="preencoded.png">    </p:cNvPr>
          <p:cNvPicPr>
            <a:picLocks noChangeAspect="1"/>
          </p:cNvPicPr>
          <p:nvPr/>
        </p:nvPicPr>
        <p:blipFill>
          <a:blip r:embed="rId2"/>
          <a:stretch>
            <a:fillRect/>
          </a:stretch>
        </p:blipFill>
        <p:spPr>
          <a:xfrm>
            <a:off x="5029200" y="1508760"/>
            <a:ext cx="320040" cy="320040"/>
          </a:xfrm>
          <a:prstGeom prst="rect">
            <a:avLst/>
          </a:prstGeom>
        </p:spPr>
      </p:pic>
      <p:sp>
        <p:nvSpPr>
          <p:cNvPr id="12" name="Text 8"/>
          <p:cNvSpPr txBox="1"/>
          <p:nvPr/>
        </p:nvSpPr>
        <p:spPr>
          <a:xfrm>
            <a:off x="5669280" y="1216152"/>
            <a:ext cx="2880360" cy="292608"/>
          </a:xfrm>
          <a:prstGeom prst="rect">
            <a:avLst/>
          </a:prstGeom>
          <a:noFill/>
          <a:ln/>
        </p:spPr>
        <p:txBody>
          <a:bodyPr wrap="square" lIns="0" tIns="0" rIns="0" bIns="0" rtlCol="0" anchor="t"/>
          <a:lstStyle/>
          <a:p>
            <a:pPr indent="0" marL="0">
              <a:buNone/>
            </a:pPr>
            <a:r>
              <a:rPr lang="en-US" sz="1600" b="1" dirty="0">
                <a:solidFill>
                  <a:schemeClr val="tx1"/>
                </a:solidFill>
              </a:rPr>
              <a:t>Video Streaming web app</a:t>
            </a:r>
            <a:endParaRPr lang="en-US" sz="1600" dirty="0"/>
          </a:p>
        </p:txBody>
      </p:sp>
      <p:sp>
        <p:nvSpPr>
          <p:cNvPr id="13" name="Text 9"/>
          <p:cNvSpPr txBox="1"/>
          <p:nvPr/>
        </p:nvSpPr>
        <p:spPr>
          <a:xfrm>
            <a:off x="5669280" y="1508760"/>
            <a:ext cx="2880360" cy="237744"/>
          </a:xfrm>
          <a:prstGeom prst="rect">
            <a:avLst/>
          </a:prstGeom>
          <a:noFill/>
          <a:ln/>
        </p:spPr>
        <p:txBody>
          <a:bodyPr wrap="square" lIns="0" tIns="0" rIns="0" bIns="0" rtlCol="0" anchor="t"/>
          <a:lstStyle/>
          <a:p>
            <a:pPr indent="0" marL="0">
              <a:buNone/>
            </a:pPr>
            <a:r>
              <a:rPr lang="en-US" sz="1200" b="1" dirty="0">
                <a:solidFill>
                  <a:schemeClr val="accent1"/>
                </a:solidFill>
              </a:rPr>
              <a:t>Node.js 22 · port 8082</a:t>
            </a:r>
            <a:endParaRPr lang="en-US" sz="1200" dirty="0"/>
          </a:p>
        </p:txBody>
      </p:sp>
      <p:sp>
        <p:nvSpPr>
          <p:cNvPr id="14" name="Text 10"/>
          <p:cNvSpPr txBox="1"/>
          <p:nvPr/>
        </p:nvSpPr>
        <p:spPr>
          <a:xfrm>
            <a:off x="5669280" y="1783080"/>
            <a:ext cx="2880360" cy="384048"/>
          </a:xfrm>
          <a:prstGeom prst="rect">
            <a:avLst/>
          </a:prstGeom>
          <a:noFill/>
          <a:ln/>
        </p:spPr>
        <p:txBody>
          <a:bodyPr wrap="square" lIns="0" tIns="0" rIns="0" bIns="0" rtlCol="0" anchor="t"/>
          <a:lstStyle/>
          <a:p>
            <a:pPr indent="0" marL="0">
              <a:buNone/>
            </a:pPr>
            <a:r>
              <a:rPr lang="en-US" sz="1200" dirty="0">
                <a:solidFill>
                  <a:schemeClr val="accent6"/>
                </a:solidFill>
              </a:rPr>
              <a:t>Catalogue from MySQL, playback with seeking</a:t>
            </a:r>
            <a:endParaRPr lang="en-US" sz="1200" dirty="0"/>
          </a:p>
        </p:txBody>
      </p:sp>
      <p:sp>
        <p:nvSpPr>
          <p:cNvPr id="15" name="Service card 3"/>
          <p:cNvSpPr/>
          <p:nvPr/>
        </p:nvSpPr>
        <p:spPr>
          <a:xfrm>
            <a:off x="457200" y="2377440"/>
            <a:ext cx="4023360" cy="1143000"/>
          </a:xfrm>
          <a:prstGeom prst="roundRect">
            <a:avLst>
              <a:gd name="adj" fmla="val 6400"/>
            </a:avLst>
          </a:prstGeom>
          <a:solidFill>
            <a:schemeClr val="bg2"/>
          </a:solidFill>
          <a:ln w="12700">
            <a:solidFill>
              <a:schemeClr val="bg2"/>
            </a:solidFill>
            <a:prstDash val="solid"/>
          </a:ln>
        </p:spPr>
      </p:sp>
      <p:sp>
        <p:nvSpPr>
          <p:cNvPr id="16" name="Service 3 circle"/>
          <p:cNvSpPr/>
          <p:nvPr/>
        </p:nvSpPr>
        <p:spPr>
          <a:xfrm>
            <a:off x="685800" y="2651760"/>
            <a:ext cx="594360" cy="594360"/>
          </a:xfrm>
          <a:prstGeom prst="ellipse">
            <a:avLst/>
          </a:prstGeom>
          <a:solidFill>
            <a:schemeClr val="bg1"/>
          </a:solidFill>
          <a:ln w="12700">
            <a:solidFill>
              <a:schemeClr val="bg1"/>
            </a:solidFill>
            <a:prstDash val="solid"/>
          </a:ln>
        </p:spPr>
      </p:sp>
      <p:pic>
        <p:nvPicPr>
          <p:cNvPr id="17" name="Service 3 icon" descr="preencoded.png">    </p:cNvPr>
          <p:cNvPicPr>
            <a:picLocks noChangeAspect="1"/>
          </p:cNvPicPr>
          <p:nvPr/>
        </p:nvPicPr>
        <p:blipFill>
          <a:blip r:embed="rId3"/>
          <a:stretch>
            <a:fillRect/>
          </a:stretch>
        </p:blipFill>
        <p:spPr>
          <a:xfrm>
            <a:off x="822960" y="2788920"/>
            <a:ext cx="320040" cy="320040"/>
          </a:xfrm>
          <a:prstGeom prst="rect">
            <a:avLst/>
          </a:prstGeom>
        </p:spPr>
      </p:pic>
      <p:sp>
        <p:nvSpPr>
          <p:cNvPr id="18" name="Text 13"/>
          <p:cNvSpPr txBox="1"/>
          <p:nvPr/>
        </p:nvSpPr>
        <p:spPr>
          <a:xfrm>
            <a:off x="1463040" y="2496312"/>
            <a:ext cx="2880360" cy="292608"/>
          </a:xfrm>
          <a:prstGeom prst="rect">
            <a:avLst/>
          </a:prstGeom>
          <a:noFill/>
          <a:ln/>
        </p:spPr>
        <p:txBody>
          <a:bodyPr wrap="square" lIns="0" tIns="0" rIns="0" bIns="0" rtlCol="0" anchor="t"/>
          <a:lstStyle/>
          <a:p>
            <a:pPr indent="0" marL="0">
              <a:buNone/>
            </a:pPr>
            <a:r>
              <a:rPr lang="en-US" sz="1600" b="1" dirty="0">
                <a:solidFill>
                  <a:schemeClr val="tx1"/>
                </a:solidFill>
              </a:rPr>
              <a:t>Authentication Service</a:t>
            </a:r>
            <a:endParaRPr lang="en-US" sz="1600" dirty="0"/>
          </a:p>
        </p:txBody>
      </p:sp>
      <p:sp>
        <p:nvSpPr>
          <p:cNvPr id="19" name="Text 14"/>
          <p:cNvSpPr txBox="1"/>
          <p:nvPr/>
        </p:nvSpPr>
        <p:spPr>
          <a:xfrm>
            <a:off x="1463040" y="2788920"/>
            <a:ext cx="2880360" cy="237744"/>
          </a:xfrm>
          <a:prstGeom prst="rect">
            <a:avLst/>
          </a:prstGeom>
          <a:noFill/>
          <a:ln/>
        </p:spPr>
        <p:txBody>
          <a:bodyPr wrap="square" lIns="0" tIns="0" rIns="0" bIns="0" rtlCol="0" anchor="t"/>
          <a:lstStyle/>
          <a:p>
            <a:pPr indent="0" marL="0">
              <a:buNone/>
            </a:pPr>
            <a:r>
              <a:rPr lang="en-US" sz="1200" b="1" dirty="0">
                <a:solidFill>
                  <a:schemeClr val="accent1"/>
                </a:solidFill>
              </a:rPr>
              <a:t>Python 3.12 · internal</a:t>
            </a:r>
            <a:endParaRPr lang="en-US" sz="1200" dirty="0"/>
          </a:p>
        </p:txBody>
      </p:sp>
      <p:sp>
        <p:nvSpPr>
          <p:cNvPr id="20" name="Text 15"/>
          <p:cNvSpPr txBox="1"/>
          <p:nvPr/>
        </p:nvSpPr>
        <p:spPr>
          <a:xfrm>
            <a:off x="1463040" y="3063240"/>
            <a:ext cx="2880360" cy="384048"/>
          </a:xfrm>
          <a:prstGeom prst="rect">
            <a:avLst/>
          </a:prstGeom>
          <a:noFill/>
          <a:ln/>
        </p:spPr>
        <p:txBody>
          <a:bodyPr wrap="square" lIns="0" tIns="0" rIns="0" bIns="0" rtlCol="0" anchor="t"/>
          <a:lstStyle/>
          <a:p>
            <a:pPr indent="0" marL="0">
              <a:buNone/>
            </a:pPr>
            <a:r>
              <a:rPr lang="en-US" sz="1200" dirty="0">
                <a:solidFill>
                  <a:schemeClr val="accent6"/>
                </a:solidFill>
              </a:rPr>
              <a:t>scrypt passwords, JWT, roles, login lockout</a:t>
            </a:r>
            <a:endParaRPr lang="en-US" sz="1200" dirty="0"/>
          </a:p>
        </p:txBody>
      </p:sp>
      <p:sp>
        <p:nvSpPr>
          <p:cNvPr id="21" name="Service card 4"/>
          <p:cNvSpPr/>
          <p:nvPr/>
        </p:nvSpPr>
        <p:spPr>
          <a:xfrm>
            <a:off x="4663440" y="2377440"/>
            <a:ext cx="4023360" cy="1143000"/>
          </a:xfrm>
          <a:prstGeom prst="roundRect">
            <a:avLst>
              <a:gd name="adj" fmla="val 6400"/>
            </a:avLst>
          </a:prstGeom>
          <a:solidFill>
            <a:schemeClr val="bg2"/>
          </a:solidFill>
          <a:ln w="12700">
            <a:solidFill>
              <a:schemeClr val="bg2"/>
            </a:solidFill>
            <a:prstDash val="solid"/>
          </a:ln>
        </p:spPr>
      </p:sp>
      <p:sp>
        <p:nvSpPr>
          <p:cNvPr id="22" name="Service 4 circle"/>
          <p:cNvSpPr/>
          <p:nvPr/>
        </p:nvSpPr>
        <p:spPr>
          <a:xfrm>
            <a:off x="4892040" y="2651760"/>
            <a:ext cx="594360" cy="594360"/>
          </a:xfrm>
          <a:prstGeom prst="ellipse">
            <a:avLst/>
          </a:prstGeom>
          <a:solidFill>
            <a:schemeClr val="bg1"/>
          </a:solidFill>
          <a:ln w="12700">
            <a:solidFill>
              <a:schemeClr val="bg1"/>
            </a:solidFill>
            <a:prstDash val="solid"/>
          </a:ln>
        </p:spPr>
      </p:sp>
      <p:pic>
        <p:nvPicPr>
          <p:cNvPr id="23" name="Service 4 icon" descr="preencoded.png">    </p:cNvPr>
          <p:cNvPicPr>
            <a:picLocks noChangeAspect="1"/>
          </p:cNvPicPr>
          <p:nvPr/>
        </p:nvPicPr>
        <p:blipFill>
          <a:blip r:embed="rId4"/>
          <a:stretch>
            <a:fillRect/>
          </a:stretch>
        </p:blipFill>
        <p:spPr>
          <a:xfrm>
            <a:off x="5029200" y="2788920"/>
            <a:ext cx="320040" cy="320040"/>
          </a:xfrm>
          <a:prstGeom prst="rect">
            <a:avLst/>
          </a:prstGeom>
        </p:spPr>
      </p:pic>
      <p:sp>
        <p:nvSpPr>
          <p:cNvPr id="24" name="Text 18"/>
          <p:cNvSpPr txBox="1"/>
          <p:nvPr/>
        </p:nvSpPr>
        <p:spPr>
          <a:xfrm>
            <a:off x="5669280" y="2496312"/>
            <a:ext cx="2880360" cy="292608"/>
          </a:xfrm>
          <a:prstGeom prst="rect">
            <a:avLst/>
          </a:prstGeom>
          <a:noFill/>
          <a:ln/>
        </p:spPr>
        <p:txBody>
          <a:bodyPr wrap="square" lIns="0" tIns="0" rIns="0" bIns="0" rtlCol="0" anchor="t"/>
          <a:lstStyle/>
          <a:p>
            <a:pPr indent="0" marL="0">
              <a:buNone/>
            </a:pPr>
            <a:r>
              <a:rPr lang="en-US" sz="1600" b="1" dirty="0">
                <a:solidFill>
                  <a:schemeClr val="tx1"/>
                </a:solidFill>
              </a:rPr>
              <a:t>File System Service</a:t>
            </a:r>
            <a:endParaRPr lang="en-US" sz="1600" dirty="0"/>
          </a:p>
        </p:txBody>
      </p:sp>
      <p:sp>
        <p:nvSpPr>
          <p:cNvPr id="25" name="Text 19"/>
          <p:cNvSpPr txBox="1"/>
          <p:nvPr/>
        </p:nvSpPr>
        <p:spPr>
          <a:xfrm>
            <a:off x="5669280" y="2788920"/>
            <a:ext cx="2880360" cy="237744"/>
          </a:xfrm>
          <a:prstGeom prst="rect">
            <a:avLst/>
          </a:prstGeom>
          <a:noFill/>
          <a:ln/>
        </p:spPr>
        <p:txBody>
          <a:bodyPr wrap="square" lIns="0" tIns="0" rIns="0" bIns="0" rtlCol="0" anchor="t"/>
          <a:lstStyle/>
          <a:p>
            <a:pPr indent="0" marL="0">
              <a:buNone/>
            </a:pPr>
            <a:r>
              <a:rPr lang="en-US" sz="1200" b="1" dirty="0">
                <a:solidFill>
                  <a:schemeClr val="accent1"/>
                </a:solidFill>
              </a:rPr>
              <a:t>Node.js 22 · internal</a:t>
            </a:r>
            <a:endParaRPr lang="en-US" sz="1200" dirty="0"/>
          </a:p>
        </p:txBody>
      </p:sp>
      <p:sp>
        <p:nvSpPr>
          <p:cNvPr id="26" name="Text 20"/>
          <p:cNvSpPr txBox="1"/>
          <p:nvPr/>
        </p:nvSpPr>
        <p:spPr>
          <a:xfrm>
            <a:off x="5669280" y="3063240"/>
            <a:ext cx="2880360" cy="384048"/>
          </a:xfrm>
          <a:prstGeom prst="rect">
            <a:avLst/>
          </a:prstGeom>
          <a:noFill/>
          <a:ln/>
        </p:spPr>
        <p:txBody>
          <a:bodyPr wrap="square" lIns="0" tIns="0" rIns="0" bIns="0" rtlCol="0" anchor="t"/>
          <a:lstStyle/>
          <a:p>
            <a:pPr indent="0" marL="0">
              <a:buNone/>
            </a:pPr>
            <a:r>
              <a:rPr lang="en-US" sz="1200" dirty="0">
                <a:solidFill>
                  <a:schemeClr val="accent6"/>
                </a:solidFill>
              </a:rPr>
              <a:t>Atomic writes and Range reads on a volume</a:t>
            </a:r>
            <a:endParaRPr lang="en-US" sz="1200" dirty="0"/>
          </a:p>
        </p:txBody>
      </p:sp>
      <p:sp>
        <p:nvSpPr>
          <p:cNvPr id="27" name="Service card 5"/>
          <p:cNvSpPr/>
          <p:nvPr/>
        </p:nvSpPr>
        <p:spPr>
          <a:xfrm>
            <a:off x="457200" y="3657600"/>
            <a:ext cx="8229600" cy="914400"/>
          </a:xfrm>
          <a:prstGeom prst="roundRect">
            <a:avLst>
              <a:gd name="adj" fmla="val 8000"/>
            </a:avLst>
          </a:prstGeom>
          <a:solidFill>
            <a:schemeClr val="bg2"/>
          </a:solidFill>
          <a:ln w="12700">
            <a:solidFill>
              <a:schemeClr val="bg2"/>
            </a:solidFill>
            <a:prstDash val="solid"/>
          </a:ln>
        </p:spPr>
      </p:sp>
      <p:sp>
        <p:nvSpPr>
          <p:cNvPr id="28" name="Service 5 circle"/>
          <p:cNvSpPr/>
          <p:nvPr/>
        </p:nvSpPr>
        <p:spPr>
          <a:xfrm>
            <a:off x="685800" y="3817620"/>
            <a:ext cx="594360" cy="594360"/>
          </a:xfrm>
          <a:prstGeom prst="ellipse">
            <a:avLst/>
          </a:prstGeom>
          <a:solidFill>
            <a:schemeClr val="bg1"/>
          </a:solidFill>
          <a:ln w="12700">
            <a:solidFill>
              <a:schemeClr val="bg1"/>
            </a:solidFill>
            <a:prstDash val="solid"/>
          </a:ln>
        </p:spPr>
      </p:sp>
      <p:pic>
        <p:nvPicPr>
          <p:cNvPr id="29" name="Service 5 icon" descr="preencoded.png">    </p:cNvPr>
          <p:cNvPicPr>
            <a:picLocks noChangeAspect="1"/>
          </p:cNvPicPr>
          <p:nvPr/>
        </p:nvPicPr>
        <p:blipFill>
          <a:blip r:embed="rId5"/>
          <a:stretch>
            <a:fillRect/>
          </a:stretch>
        </p:blipFill>
        <p:spPr>
          <a:xfrm>
            <a:off x="822960" y="3954780"/>
            <a:ext cx="320040" cy="320040"/>
          </a:xfrm>
          <a:prstGeom prst="rect">
            <a:avLst/>
          </a:prstGeom>
        </p:spPr>
      </p:pic>
      <p:sp>
        <p:nvSpPr>
          <p:cNvPr id="30" name="Text 23"/>
          <p:cNvSpPr txBox="1"/>
          <p:nvPr/>
        </p:nvSpPr>
        <p:spPr>
          <a:xfrm>
            <a:off x="1463040" y="3776472"/>
            <a:ext cx="3017520" cy="292608"/>
          </a:xfrm>
          <a:prstGeom prst="rect">
            <a:avLst/>
          </a:prstGeom>
          <a:noFill/>
          <a:ln/>
        </p:spPr>
        <p:txBody>
          <a:bodyPr wrap="square" lIns="0" tIns="0" rIns="0" bIns="0" rtlCol="0" anchor="t"/>
          <a:lstStyle/>
          <a:p>
            <a:pPr indent="0" marL="0">
              <a:buNone/>
            </a:pPr>
            <a:r>
              <a:rPr lang="en-US" sz="1600" b="1" dirty="0">
                <a:solidFill>
                  <a:schemeClr val="tx1"/>
                </a:solidFill>
              </a:rPr>
              <a:t>MySQL database</a:t>
            </a:r>
            <a:endParaRPr lang="en-US" sz="1600" dirty="0"/>
          </a:p>
        </p:txBody>
      </p:sp>
      <p:sp>
        <p:nvSpPr>
          <p:cNvPr id="31" name="Text 24"/>
          <p:cNvSpPr txBox="1"/>
          <p:nvPr/>
        </p:nvSpPr>
        <p:spPr>
          <a:xfrm>
            <a:off x="1463040" y="4069080"/>
            <a:ext cx="3017520" cy="237744"/>
          </a:xfrm>
          <a:prstGeom prst="rect">
            <a:avLst/>
          </a:prstGeom>
          <a:noFill/>
          <a:ln/>
        </p:spPr>
        <p:txBody>
          <a:bodyPr wrap="square" lIns="0" tIns="0" rIns="0" bIns="0" rtlCol="0" anchor="t"/>
          <a:lstStyle/>
          <a:p>
            <a:pPr indent="0" marL="0">
              <a:buNone/>
            </a:pPr>
            <a:r>
              <a:rPr lang="en-US" sz="1200" b="1" dirty="0">
                <a:solidFill>
                  <a:schemeClr val="accent1"/>
                </a:solidFill>
              </a:rPr>
              <a:t>MySQL 8.4 · internal · official image</a:t>
            </a:r>
            <a:endParaRPr lang="en-US" sz="1200" dirty="0"/>
          </a:p>
        </p:txBody>
      </p:sp>
      <p:sp>
        <p:nvSpPr>
          <p:cNvPr id="32" name="Text 25"/>
          <p:cNvSpPr txBox="1"/>
          <p:nvPr/>
        </p:nvSpPr>
        <p:spPr>
          <a:xfrm>
            <a:off x="4297680" y="3840480"/>
            <a:ext cx="4206240" cy="548640"/>
          </a:xfrm>
          <a:prstGeom prst="rect">
            <a:avLst/>
          </a:prstGeom>
          <a:noFill/>
          <a:ln/>
        </p:spPr>
        <p:txBody>
          <a:bodyPr wrap="square" lIns="0" tIns="0" rIns="0" bIns="0" rtlCol="0" anchor="ctr"/>
          <a:lstStyle/>
          <a:p>
            <a:pPr indent="0" marL="0">
              <a:buNone/>
            </a:pPr>
            <a:r>
              <a:rPr lang="en-US" sz="1200" dirty="0">
                <a:solidFill>
                  <a:schemeClr val="accent6"/>
                </a:solidFill>
              </a:rPr>
              <a:t>Users and video metadata, one least-privilege account per service, data on a named volume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Architecture</a:t>
            </a:r>
            <a:endParaRPr lang="en-US" sz="3200" dirty="0"/>
          </a:p>
        </p:txBody>
      </p:sp>
      <p:pic>
        <p:nvPicPr>
          <p:cNvPr id="3" name="Architecture diagram" descr="/home/claude/video-streaming-system/docs/architecture.png">    </p:cNvPr>
          <p:cNvPicPr>
            <a:picLocks noChangeAspect="1"/>
          </p:cNvPicPr>
          <p:nvPr/>
        </p:nvPicPr>
        <p:blipFill>
          <a:blip r:embed="rId1"/>
          <a:stretch>
            <a:fillRect/>
          </a:stretch>
        </p:blipFill>
        <p:spPr>
          <a:xfrm>
            <a:off x="457200" y="1051560"/>
            <a:ext cx="5029200" cy="3657600"/>
          </a:xfrm>
          <a:prstGeom prst="rect">
            <a:avLst/>
          </a:prstGeom>
        </p:spPr>
      </p:pic>
      <p:sp>
        <p:nvSpPr>
          <p:cNvPr id="4" name="Arch point 1"/>
          <p:cNvSpPr/>
          <p:nvPr/>
        </p:nvSpPr>
        <p:spPr>
          <a:xfrm>
            <a:off x="5760720" y="1234440"/>
            <a:ext cx="2926080" cy="960120"/>
          </a:xfrm>
          <a:prstGeom prst="roundRect">
            <a:avLst>
              <a:gd name="adj" fmla="val 7619"/>
            </a:avLst>
          </a:prstGeom>
          <a:solidFill>
            <a:schemeClr val="bg2"/>
          </a:solidFill>
          <a:ln w="12700">
            <a:solidFill>
              <a:schemeClr val="bg2"/>
            </a:solidFill>
            <a:prstDash val="solid"/>
          </a:ln>
        </p:spPr>
      </p:sp>
      <p:sp>
        <p:nvSpPr>
          <p:cNvPr id="5" name="Text 2"/>
          <p:cNvSpPr txBox="1"/>
          <p:nvPr/>
        </p:nvSpPr>
        <p:spPr>
          <a:xfrm>
            <a:off x="5943600" y="1353312"/>
            <a:ext cx="2651760" cy="274320"/>
          </a:xfrm>
          <a:prstGeom prst="rect">
            <a:avLst/>
          </a:prstGeom>
          <a:noFill/>
          <a:ln/>
        </p:spPr>
        <p:txBody>
          <a:bodyPr wrap="square" lIns="0" tIns="0" rIns="0" bIns="0" rtlCol="0" anchor="t"/>
          <a:lstStyle/>
          <a:p>
            <a:pPr indent="0" marL="0">
              <a:buNone/>
            </a:pPr>
            <a:r>
              <a:rPr lang="en-US" sz="1500" b="1" dirty="0">
                <a:solidFill>
                  <a:schemeClr val="accent1"/>
                </a:solidFill>
              </a:rPr>
              <a:t>Two networks</a:t>
            </a:r>
            <a:endParaRPr lang="en-US" sz="1500" dirty="0"/>
          </a:p>
        </p:txBody>
      </p:sp>
      <p:sp>
        <p:nvSpPr>
          <p:cNvPr id="6" name="Text 3"/>
          <p:cNvSpPr txBox="1"/>
          <p:nvPr/>
        </p:nvSpPr>
        <p:spPr>
          <a:xfrm>
            <a:off x="5943600" y="1645920"/>
            <a:ext cx="2651760" cy="502920"/>
          </a:xfrm>
          <a:prstGeom prst="rect">
            <a:avLst/>
          </a:prstGeom>
          <a:noFill/>
          <a:ln/>
        </p:spPr>
        <p:txBody>
          <a:bodyPr wrap="square" lIns="0" tIns="0" rIns="0" bIns="0" rtlCol="0" anchor="t"/>
          <a:lstStyle/>
          <a:p>
            <a:pPr indent="0" marL="0">
              <a:buNone/>
            </a:pPr>
            <a:r>
              <a:rPr lang="en-US" sz="1200" dirty="0">
                <a:solidFill>
                  <a:schemeClr val="accent6"/>
                </a:solidFill>
              </a:rPr>
              <a:t>Only the web apps join the public frontend network</a:t>
            </a:r>
            <a:endParaRPr lang="en-US" sz="1200" dirty="0"/>
          </a:p>
        </p:txBody>
      </p:sp>
      <p:sp>
        <p:nvSpPr>
          <p:cNvPr id="7" name="Arch point 2"/>
          <p:cNvSpPr/>
          <p:nvPr/>
        </p:nvSpPr>
        <p:spPr>
          <a:xfrm>
            <a:off x="5760720" y="2350008"/>
            <a:ext cx="2926080" cy="960120"/>
          </a:xfrm>
          <a:prstGeom prst="roundRect">
            <a:avLst>
              <a:gd name="adj" fmla="val 7619"/>
            </a:avLst>
          </a:prstGeom>
          <a:solidFill>
            <a:schemeClr val="bg2"/>
          </a:solidFill>
          <a:ln w="12700">
            <a:solidFill>
              <a:schemeClr val="bg2"/>
            </a:solidFill>
            <a:prstDash val="solid"/>
          </a:ln>
        </p:spPr>
      </p:sp>
      <p:sp>
        <p:nvSpPr>
          <p:cNvPr id="8" name="Text 5"/>
          <p:cNvSpPr txBox="1"/>
          <p:nvPr/>
        </p:nvSpPr>
        <p:spPr>
          <a:xfrm>
            <a:off x="5943600" y="2468880"/>
            <a:ext cx="2651760" cy="274320"/>
          </a:xfrm>
          <a:prstGeom prst="rect">
            <a:avLst/>
          </a:prstGeom>
          <a:noFill/>
          <a:ln/>
        </p:spPr>
        <p:txBody>
          <a:bodyPr wrap="square" lIns="0" tIns="0" rIns="0" bIns="0" rtlCol="0" anchor="t"/>
          <a:lstStyle/>
          <a:p>
            <a:pPr indent="0" marL="0">
              <a:buNone/>
            </a:pPr>
            <a:r>
              <a:rPr lang="en-US" sz="1500" b="1" dirty="0">
                <a:solidFill>
                  <a:schemeClr val="accent1"/>
                </a:solidFill>
              </a:rPr>
              <a:t>backend is internal</a:t>
            </a:r>
            <a:endParaRPr lang="en-US" sz="1500" dirty="0"/>
          </a:p>
        </p:txBody>
      </p:sp>
      <p:sp>
        <p:nvSpPr>
          <p:cNvPr id="9" name="Text 6"/>
          <p:cNvSpPr txBox="1"/>
          <p:nvPr/>
        </p:nvSpPr>
        <p:spPr>
          <a:xfrm>
            <a:off x="5943600" y="2761488"/>
            <a:ext cx="2651760" cy="502920"/>
          </a:xfrm>
          <a:prstGeom prst="rect">
            <a:avLst/>
          </a:prstGeom>
          <a:noFill/>
          <a:ln/>
        </p:spPr>
        <p:txBody>
          <a:bodyPr wrap="square" lIns="0" tIns="0" rIns="0" bIns="0" rtlCol="0" anchor="t"/>
          <a:lstStyle/>
          <a:p>
            <a:pPr indent="0" marL="0">
              <a:buNone/>
            </a:pPr>
            <a:r>
              <a:rPr lang="en-US" sz="1200" dirty="0">
                <a:solidFill>
                  <a:schemeClr val="accent6"/>
                </a:solidFill>
              </a:rPr>
              <a:t>MySQL, auth and file service have no published ports and no internet route</a:t>
            </a:r>
            <a:endParaRPr lang="en-US" sz="1200" dirty="0"/>
          </a:p>
        </p:txBody>
      </p:sp>
      <p:sp>
        <p:nvSpPr>
          <p:cNvPr id="10" name="Arch point 3"/>
          <p:cNvSpPr/>
          <p:nvPr/>
        </p:nvSpPr>
        <p:spPr>
          <a:xfrm>
            <a:off x="5760720" y="3465576"/>
            <a:ext cx="2926080" cy="960120"/>
          </a:xfrm>
          <a:prstGeom prst="roundRect">
            <a:avLst>
              <a:gd name="adj" fmla="val 7619"/>
            </a:avLst>
          </a:prstGeom>
          <a:solidFill>
            <a:schemeClr val="bg2"/>
          </a:solidFill>
          <a:ln w="12700">
            <a:solidFill>
              <a:schemeClr val="bg2"/>
            </a:solidFill>
            <a:prstDash val="solid"/>
          </a:ln>
        </p:spPr>
      </p:sp>
      <p:sp>
        <p:nvSpPr>
          <p:cNvPr id="11" name="Text 8"/>
          <p:cNvSpPr txBox="1"/>
          <p:nvPr/>
        </p:nvSpPr>
        <p:spPr>
          <a:xfrm>
            <a:off x="5943600" y="3584448"/>
            <a:ext cx="2651760" cy="274320"/>
          </a:xfrm>
          <a:prstGeom prst="rect">
            <a:avLst/>
          </a:prstGeom>
          <a:noFill/>
          <a:ln/>
        </p:spPr>
        <p:txBody>
          <a:bodyPr wrap="square" lIns="0" tIns="0" rIns="0" bIns="0" rtlCol="0" anchor="t"/>
          <a:lstStyle/>
          <a:p>
            <a:pPr indent="0" marL="0">
              <a:buNone/>
            </a:pPr>
            <a:r>
              <a:rPr lang="en-US" sz="1500" b="1" dirty="0">
                <a:solidFill>
                  <a:schemeClr val="accent1"/>
                </a:solidFill>
              </a:rPr>
              <a:t>Secrets as files</a:t>
            </a:r>
            <a:endParaRPr lang="en-US" sz="1500" dirty="0"/>
          </a:p>
        </p:txBody>
      </p:sp>
      <p:sp>
        <p:nvSpPr>
          <p:cNvPr id="12" name="Text 9"/>
          <p:cNvSpPr txBox="1"/>
          <p:nvPr/>
        </p:nvSpPr>
        <p:spPr>
          <a:xfrm>
            <a:off x="5943600" y="3877056"/>
            <a:ext cx="2651760" cy="502920"/>
          </a:xfrm>
          <a:prstGeom prst="rect">
            <a:avLst/>
          </a:prstGeom>
          <a:noFill/>
          <a:ln/>
        </p:spPr>
        <p:txBody>
          <a:bodyPr wrap="square" lIns="0" tIns="0" rIns="0" bIns="0" rtlCol="0" anchor="t"/>
          <a:lstStyle/>
          <a:p>
            <a:pPr indent="0" marL="0">
              <a:buNone/>
            </a:pPr>
            <a:r>
              <a:rPr lang="en-US" sz="1200" dirty="0">
                <a:solidFill>
                  <a:schemeClr val="accent6"/>
                </a:solidFill>
              </a:rPr>
              <a:t>Seven Docker secrets mounted at /run/secrets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How a video moves through the system</a:t>
            </a:r>
            <a:endParaRPr lang="en-US" sz="3200" dirty="0"/>
          </a:p>
        </p:txBody>
      </p:sp>
      <p:sp>
        <p:nvSpPr>
          <p:cNvPr id="3" name="Text 1"/>
          <p:cNvSpPr txBox="1"/>
          <p:nvPr/>
        </p:nvSpPr>
        <p:spPr>
          <a:xfrm>
            <a:off x="457200" y="1600200"/>
            <a:ext cx="1005840" cy="365760"/>
          </a:xfrm>
          <a:prstGeom prst="rect">
            <a:avLst/>
          </a:prstGeom>
          <a:noFill/>
          <a:ln/>
        </p:spPr>
        <p:txBody>
          <a:bodyPr wrap="square" lIns="0" tIns="0" rIns="0" bIns="0" rtlCol="0" anchor="t"/>
          <a:lstStyle/>
          <a:p>
            <a:pPr indent="0" marL="0">
              <a:buNone/>
            </a:pPr>
            <a:r>
              <a:rPr lang="en-US" sz="2000" b="1" dirty="0">
                <a:solidFill>
                  <a:schemeClr val="accent1"/>
                </a:solidFill>
              </a:rPr>
              <a:t>Upload</a:t>
            </a:r>
            <a:endParaRPr lang="en-US" sz="2000" dirty="0"/>
          </a:p>
        </p:txBody>
      </p:sp>
      <p:sp>
        <p:nvSpPr>
          <p:cNvPr id="4" name="Upload step 1"/>
          <p:cNvSpPr/>
          <p:nvPr/>
        </p:nvSpPr>
        <p:spPr>
          <a:xfrm>
            <a:off x="1508760" y="1188720"/>
            <a:ext cx="1325880" cy="1188720"/>
          </a:xfrm>
          <a:prstGeom prst="roundRect">
            <a:avLst>
              <a:gd name="adj" fmla="val 6154"/>
            </a:avLst>
          </a:prstGeom>
          <a:solidFill>
            <a:schemeClr val="bg2"/>
          </a:solidFill>
          <a:ln w="12700">
            <a:solidFill>
              <a:schemeClr val="bg2"/>
            </a:solidFill>
            <a:prstDash val="solid"/>
          </a:ln>
        </p:spPr>
      </p:sp>
      <p:sp>
        <p:nvSpPr>
          <p:cNvPr id="5" name="Upload step 1 number bg"/>
          <p:cNvSpPr/>
          <p:nvPr/>
        </p:nvSpPr>
        <p:spPr>
          <a:xfrm>
            <a:off x="1618488" y="1298448"/>
            <a:ext cx="329184" cy="329184"/>
          </a:xfrm>
          <a:prstGeom prst="ellipse">
            <a:avLst/>
          </a:prstGeom>
          <a:solidFill>
            <a:schemeClr val="accent1"/>
          </a:solidFill>
          <a:ln w="12700">
            <a:solidFill>
              <a:schemeClr val="accent1"/>
            </a:solidFill>
            <a:prstDash val="solid"/>
          </a:ln>
        </p:spPr>
      </p:sp>
      <p:sp>
        <p:nvSpPr>
          <p:cNvPr id="6" name="Text 4"/>
          <p:cNvSpPr txBox="1"/>
          <p:nvPr/>
        </p:nvSpPr>
        <p:spPr>
          <a:xfrm>
            <a:off x="1618488" y="1298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5"/>
          <p:cNvSpPr txBox="1"/>
          <p:nvPr/>
        </p:nvSpPr>
        <p:spPr>
          <a:xfrm>
            <a:off x="1618488" y="1719072"/>
            <a:ext cx="1115568" cy="621792"/>
          </a:xfrm>
          <a:prstGeom prst="rect">
            <a:avLst/>
          </a:prstGeom>
          <a:noFill/>
          <a:ln/>
        </p:spPr>
        <p:txBody>
          <a:bodyPr wrap="square" lIns="0" tIns="0" rIns="0" bIns="0" rtlCol="0" anchor="t"/>
          <a:lstStyle/>
          <a:p>
            <a:pPr indent="0" marL="0">
              <a:buNone/>
            </a:pPr>
            <a:r>
              <a:rPr lang="en-US" sz="1200" dirty="0">
                <a:solidFill>
                  <a:schemeClr val="tx1"/>
                </a:solidFill>
              </a:rPr>
              <a:t>Check session and role</a:t>
            </a:r>
            <a:endParaRPr lang="en-US" sz="1200" dirty="0"/>
          </a:p>
        </p:txBody>
      </p:sp>
      <p:sp>
        <p:nvSpPr>
          <p:cNvPr id="8" name="Upload step 2"/>
          <p:cNvSpPr/>
          <p:nvPr/>
        </p:nvSpPr>
        <p:spPr>
          <a:xfrm>
            <a:off x="2971800" y="1188720"/>
            <a:ext cx="1325880" cy="1188720"/>
          </a:xfrm>
          <a:prstGeom prst="roundRect">
            <a:avLst>
              <a:gd name="adj" fmla="val 6154"/>
            </a:avLst>
          </a:prstGeom>
          <a:solidFill>
            <a:schemeClr val="bg2"/>
          </a:solidFill>
          <a:ln w="12700">
            <a:solidFill>
              <a:schemeClr val="bg2"/>
            </a:solidFill>
            <a:prstDash val="solid"/>
          </a:ln>
        </p:spPr>
      </p:sp>
      <p:sp>
        <p:nvSpPr>
          <p:cNvPr id="9" name="Upload step 2 number bg"/>
          <p:cNvSpPr/>
          <p:nvPr/>
        </p:nvSpPr>
        <p:spPr>
          <a:xfrm>
            <a:off x="3081528" y="1298448"/>
            <a:ext cx="329184" cy="329184"/>
          </a:xfrm>
          <a:prstGeom prst="ellipse">
            <a:avLst/>
          </a:prstGeom>
          <a:solidFill>
            <a:schemeClr val="accent1"/>
          </a:solidFill>
          <a:ln w="12700">
            <a:solidFill>
              <a:schemeClr val="accent1"/>
            </a:solidFill>
            <a:prstDash val="solid"/>
          </a:ln>
        </p:spPr>
      </p:sp>
      <p:sp>
        <p:nvSpPr>
          <p:cNvPr id="10" name="Text 8"/>
          <p:cNvSpPr txBox="1"/>
          <p:nvPr/>
        </p:nvSpPr>
        <p:spPr>
          <a:xfrm>
            <a:off x="3081528" y="1298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3081528" y="1719072"/>
            <a:ext cx="1115568" cy="621792"/>
          </a:xfrm>
          <a:prstGeom prst="rect">
            <a:avLst/>
          </a:prstGeom>
          <a:noFill/>
          <a:ln/>
        </p:spPr>
        <p:txBody>
          <a:bodyPr wrap="square" lIns="0" tIns="0" rIns="0" bIns="0" rtlCol="0" anchor="t"/>
          <a:lstStyle/>
          <a:p>
            <a:pPr indent="0" marL="0">
              <a:buNone/>
            </a:pPr>
            <a:r>
              <a:rPr lang="en-US" sz="1200" dirty="0">
                <a:solidFill>
                  <a:schemeClr val="tx1"/>
                </a:solidFill>
              </a:rPr>
              <a:t>Validate title, type, size</a:t>
            </a:r>
            <a:endParaRPr lang="en-US" sz="1200" dirty="0"/>
          </a:p>
        </p:txBody>
      </p:sp>
      <p:sp>
        <p:nvSpPr>
          <p:cNvPr id="12" name="Upload step 3"/>
          <p:cNvSpPr/>
          <p:nvPr/>
        </p:nvSpPr>
        <p:spPr>
          <a:xfrm>
            <a:off x="4434840" y="1188720"/>
            <a:ext cx="1325880" cy="1188720"/>
          </a:xfrm>
          <a:prstGeom prst="roundRect">
            <a:avLst>
              <a:gd name="adj" fmla="val 6154"/>
            </a:avLst>
          </a:prstGeom>
          <a:solidFill>
            <a:schemeClr val="bg2"/>
          </a:solidFill>
          <a:ln w="12700">
            <a:solidFill>
              <a:schemeClr val="bg2"/>
            </a:solidFill>
            <a:prstDash val="solid"/>
          </a:ln>
        </p:spPr>
      </p:sp>
      <p:sp>
        <p:nvSpPr>
          <p:cNvPr id="13" name="Upload step 3 number bg"/>
          <p:cNvSpPr/>
          <p:nvPr/>
        </p:nvSpPr>
        <p:spPr>
          <a:xfrm>
            <a:off x="4544568" y="1298448"/>
            <a:ext cx="329184" cy="329184"/>
          </a:xfrm>
          <a:prstGeom prst="ellipse">
            <a:avLst/>
          </a:prstGeom>
          <a:solidFill>
            <a:schemeClr val="accent1"/>
          </a:solidFill>
          <a:ln w="12700">
            <a:solidFill>
              <a:schemeClr val="accent1"/>
            </a:solidFill>
            <a:prstDash val="solid"/>
          </a:ln>
        </p:spPr>
      </p:sp>
      <p:sp>
        <p:nvSpPr>
          <p:cNvPr id="14" name="Text 12"/>
          <p:cNvSpPr txBox="1"/>
          <p:nvPr/>
        </p:nvSpPr>
        <p:spPr>
          <a:xfrm>
            <a:off x="4544568" y="1298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3"/>
          <p:cNvSpPr txBox="1"/>
          <p:nvPr/>
        </p:nvSpPr>
        <p:spPr>
          <a:xfrm>
            <a:off x="4544568" y="1719072"/>
            <a:ext cx="1115568" cy="621792"/>
          </a:xfrm>
          <a:prstGeom prst="rect">
            <a:avLst/>
          </a:prstGeom>
          <a:noFill/>
          <a:ln/>
        </p:spPr>
        <p:txBody>
          <a:bodyPr wrap="square" lIns="0" tIns="0" rIns="0" bIns="0" rtlCol="0" anchor="t"/>
          <a:lstStyle/>
          <a:p>
            <a:pPr indent="0" marL="0">
              <a:buNone/>
            </a:pPr>
            <a:r>
              <a:rPr lang="en-US" sz="1200" dirty="0">
                <a:solidFill>
                  <a:schemeClr val="tx1"/>
                </a:solidFill>
              </a:rPr>
              <a:t>Check magic bytes</a:t>
            </a:r>
            <a:endParaRPr lang="en-US" sz="1200" dirty="0"/>
          </a:p>
        </p:txBody>
      </p:sp>
      <p:sp>
        <p:nvSpPr>
          <p:cNvPr id="16" name="Upload step 4"/>
          <p:cNvSpPr/>
          <p:nvPr/>
        </p:nvSpPr>
        <p:spPr>
          <a:xfrm>
            <a:off x="5897880" y="1188720"/>
            <a:ext cx="1325880" cy="1188720"/>
          </a:xfrm>
          <a:prstGeom prst="roundRect">
            <a:avLst>
              <a:gd name="adj" fmla="val 6154"/>
            </a:avLst>
          </a:prstGeom>
          <a:solidFill>
            <a:schemeClr val="bg2"/>
          </a:solidFill>
          <a:ln w="12700">
            <a:solidFill>
              <a:schemeClr val="bg2"/>
            </a:solidFill>
            <a:prstDash val="solid"/>
          </a:ln>
        </p:spPr>
      </p:sp>
      <p:sp>
        <p:nvSpPr>
          <p:cNvPr id="17" name="Upload step 4 number bg"/>
          <p:cNvSpPr/>
          <p:nvPr/>
        </p:nvSpPr>
        <p:spPr>
          <a:xfrm>
            <a:off x="6007608" y="1298448"/>
            <a:ext cx="329184" cy="329184"/>
          </a:xfrm>
          <a:prstGeom prst="ellipse">
            <a:avLst/>
          </a:prstGeom>
          <a:solidFill>
            <a:schemeClr val="accent1"/>
          </a:solidFill>
          <a:ln w="12700">
            <a:solidFill>
              <a:schemeClr val="accent1"/>
            </a:solidFill>
            <a:prstDash val="solid"/>
          </a:ln>
        </p:spPr>
      </p:sp>
      <p:sp>
        <p:nvSpPr>
          <p:cNvPr id="18" name="Text 16"/>
          <p:cNvSpPr txBox="1"/>
          <p:nvPr/>
        </p:nvSpPr>
        <p:spPr>
          <a:xfrm>
            <a:off x="6007608" y="1298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9" name="Text 17"/>
          <p:cNvSpPr txBox="1"/>
          <p:nvPr/>
        </p:nvSpPr>
        <p:spPr>
          <a:xfrm>
            <a:off x="6007608" y="1719072"/>
            <a:ext cx="1115568" cy="621792"/>
          </a:xfrm>
          <a:prstGeom prst="rect">
            <a:avLst/>
          </a:prstGeom>
          <a:noFill/>
          <a:ln/>
        </p:spPr>
        <p:txBody>
          <a:bodyPr wrap="square" lIns="0" tIns="0" rIns="0" bIns="0" rtlCol="0" anchor="t"/>
          <a:lstStyle/>
          <a:p>
            <a:pPr indent="0" marL="0">
              <a:buNone/>
            </a:pPr>
            <a:r>
              <a:rPr lang="en-US" sz="1200" dirty="0">
                <a:solidFill>
                  <a:schemeClr val="tx1"/>
                </a:solidFill>
              </a:rPr>
              <a:t>Stream to file service</a:t>
            </a:r>
            <a:endParaRPr lang="en-US" sz="1200" dirty="0"/>
          </a:p>
        </p:txBody>
      </p:sp>
      <p:sp>
        <p:nvSpPr>
          <p:cNvPr id="20" name="Upload step 5"/>
          <p:cNvSpPr/>
          <p:nvPr/>
        </p:nvSpPr>
        <p:spPr>
          <a:xfrm>
            <a:off x="7360920" y="1188720"/>
            <a:ext cx="1325880" cy="1188720"/>
          </a:xfrm>
          <a:prstGeom prst="roundRect">
            <a:avLst>
              <a:gd name="adj" fmla="val 6154"/>
            </a:avLst>
          </a:prstGeom>
          <a:solidFill>
            <a:schemeClr val="bg2"/>
          </a:solidFill>
          <a:ln w="12700">
            <a:solidFill>
              <a:schemeClr val="bg2"/>
            </a:solidFill>
            <a:prstDash val="solid"/>
          </a:ln>
        </p:spPr>
      </p:sp>
      <p:sp>
        <p:nvSpPr>
          <p:cNvPr id="21" name="Upload step 5 number bg"/>
          <p:cNvSpPr/>
          <p:nvPr/>
        </p:nvSpPr>
        <p:spPr>
          <a:xfrm>
            <a:off x="7470648" y="1298448"/>
            <a:ext cx="329184" cy="329184"/>
          </a:xfrm>
          <a:prstGeom prst="ellipse">
            <a:avLst/>
          </a:prstGeom>
          <a:solidFill>
            <a:schemeClr val="accent1"/>
          </a:solidFill>
          <a:ln w="12700">
            <a:solidFill>
              <a:schemeClr val="accent1"/>
            </a:solidFill>
            <a:prstDash val="solid"/>
          </a:ln>
        </p:spPr>
      </p:sp>
      <p:sp>
        <p:nvSpPr>
          <p:cNvPr id="22" name="Text 20"/>
          <p:cNvSpPr txBox="1"/>
          <p:nvPr/>
        </p:nvSpPr>
        <p:spPr>
          <a:xfrm>
            <a:off x="7470648" y="1298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3" name="Text 21"/>
          <p:cNvSpPr txBox="1"/>
          <p:nvPr/>
        </p:nvSpPr>
        <p:spPr>
          <a:xfrm>
            <a:off x="7470648" y="1719072"/>
            <a:ext cx="1115568" cy="621792"/>
          </a:xfrm>
          <a:prstGeom prst="rect">
            <a:avLst/>
          </a:prstGeom>
          <a:noFill/>
          <a:ln/>
        </p:spPr>
        <p:txBody>
          <a:bodyPr wrap="square" lIns="0" tIns="0" rIns="0" bIns="0" rtlCol="0" anchor="t"/>
          <a:lstStyle/>
          <a:p>
            <a:pPr indent="0" marL="0">
              <a:buNone/>
            </a:pPr>
            <a:r>
              <a:rPr lang="en-US" sz="1200" dirty="0">
                <a:solidFill>
                  <a:schemeClr val="tx1"/>
                </a:solidFill>
              </a:rPr>
              <a:t>Insert metadata (or roll back)</a:t>
            </a:r>
            <a:endParaRPr lang="en-US" sz="1200" dirty="0"/>
          </a:p>
        </p:txBody>
      </p:sp>
      <p:sp>
        <p:nvSpPr>
          <p:cNvPr id="24" name="Text 22"/>
          <p:cNvSpPr txBox="1"/>
          <p:nvPr/>
        </p:nvSpPr>
        <p:spPr>
          <a:xfrm>
            <a:off x="457200" y="3291840"/>
            <a:ext cx="1005840" cy="365760"/>
          </a:xfrm>
          <a:prstGeom prst="rect">
            <a:avLst/>
          </a:prstGeom>
          <a:noFill/>
          <a:ln/>
        </p:spPr>
        <p:txBody>
          <a:bodyPr wrap="square" lIns="0" tIns="0" rIns="0" bIns="0" rtlCol="0" anchor="t"/>
          <a:lstStyle/>
          <a:p>
            <a:pPr indent="0" marL="0">
              <a:buNone/>
            </a:pPr>
            <a:r>
              <a:rPr lang="en-US" sz="2000" b="1" dirty="0">
                <a:solidFill>
                  <a:schemeClr val="accent2"/>
                </a:solidFill>
              </a:rPr>
              <a:t>Watch</a:t>
            </a:r>
            <a:endParaRPr lang="en-US" sz="2000" dirty="0"/>
          </a:p>
        </p:txBody>
      </p:sp>
      <p:sp>
        <p:nvSpPr>
          <p:cNvPr id="25" name="Watch step 1"/>
          <p:cNvSpPr/>
          <p:nvPr/>
        </p:nvSpPr>
        <p:spPr>
          <a:xfrm>
            <a:off x="1508760" y="2880360"/>
            <a:ext cx="1325880" cy="1188720"/>
          </a:xfrm>
          <a:prstGeom prst="roundRect">
            <a:avLst>
              <a:gd name="adj" fmla="val 6154"/>
            </a:avLst>
          </a:prstGeom>
          <a:solidFill>
            <a:schemeClr val="bg2"/>
          </a:solidFill>
          <a:ln w="12700">
            <a:solidFill>
              <a:schemeClr val="bg2"/>
            </a:solidFill>
            <a:prstDash val="solid"/>
          </a:ln>
        </p:spPr>
      </p:sp>
      <p:sp>
        <p:nvSpPr>
          <p:cNvPr id="26" name="Watch step 1 number bg"/>
          <p:cNvSpPr/>
          <p:nvPr/>
        </p:nvSpPr>
        <p:spPr>
          <a:xfrm>
            <a:off x="1618488" y="2990088"/>
            <a:ext cx="329184" cy="329184"/>
          </a:xfrm>
          <a:prstGeom prst="ellipse">
            <a:avLst/>
          </a:prstGeom>
          <a:solidFill>
            <a:schemeClr val="accent2"/>
          </a:solidFill>
          <a:ln w="12700">
            <a:solidFill>
              <a:schemeClr val="accent2"/>
            </a:solidFill>
            <a:prstDash val="solid"/>
          </a:ln>
        </p:spPr>
      </p:sp>
      <p:sp>
        <p:nvSpPr>
          <p:cNvPr id="27" name="Text 25"/>
          <p:cNvSpPr txBox="1"/>
          <p:nvPr/>
        </p:nvSpPr>
        <p:spPr>
          <a:xfrm>
            <a:off x="1618488" y="29900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8" name="Text 26"/>
          <p:cNvSpPr txBox="1"/>
          <p:nvPr/>
        </p:nvSpPr>
        <p:spPr>
          <a:xfrm>
            <a:off x="1618488" y="3410712"/>
            <a:ext cx="1115568" cy="621792"/>
          </a:xfrm>
          <a:prstGeom prst="rect">
            <a:avLst/>
          </a:prstGeom>
          <a:noFill/>
          <a:ln/>
        </p:spPr>
        <p:txBody>
          <a:bodyPr wrap="square" lIns="0" tIns="0" rIns="0" bIns="0" rtlCol="0" anchor="t"/>
          <a:lstStyle/>
          <a:p>
            <a:pPr indent="0" marL="0">
              <a:buNone/>
            </a:pPr>
            <a:r>
              <a:rPr lang="en-US" sz="1200" dirty="0">
                <a:solidFill>
                  <a:schemeClr val="tx1"/>
                </a:solidFill>
              </a:rPr>
              <a:t>Check session</a:t>
            </a:r>
            <a:endParaRPr lang="en-US" sz="1200" dirty="0"/>
          </a:p>
        </p:txBody>
      </p:sp>
      <p:sp>
        <p:nvSpPr>
          <p:cNvPr id="29" name="Watch step 2"/>
          <p:cNvSpPr/>
          <p:nvPr/>
        </p:nvSpPr>
        <p:spPr>
          <a:xfrm>
            <a:off x="2971800" y="2880360"/>
            <a:ext cx="1325880" cy="1188720"/>
          </a:xfrm>
          <a:prstGeom prst="roundRect">
            <a:avLst>
              <a:gd name="adj" fmla="val 6154"/>
            </a:avLst>
          </a:prstGeom>
          <a:solidFill>
            <a:schemeClr val="bg2"/>
          </a:solidFill>
          <a:ln w="12700">
            <a:solidFill>
              <a:schemeClr val="bg2"/>
            </a:solidFill>
            <a:prstDash val="solid"/>
          </a:ln>
        </p:spPr>
      </p:sp>
      <p:sp>
        <p:nvSpPr>
          <p:cNvPr id="30" name="Watch step 2 number bg"/>
          <p:cNvSpPr/>
          <p:nvPr/>
        </p:nvSpPr>
        <p:spPr>
          <a:xfrm>
            <a:off x="3081528" y="2990088"/>
            <a:ext cx="329184" cy="329184"/>
          </a:xfrm>
          <a:prstGeom prst="ellipse">
            <a:avLst/>
          </a:prstGeom>
          <a:solidFill>
            <a:schemeClr val="accent2"/>
          </a:solidFill>
          <a:ln w="12700">
            <a:solidFill>
              <a:schemeClr val="accent2"/>
            </a:solidFill>
            <a:prstDash val="solid"/>
          </a:ln>
        </p:spPr>
      </p:sp>
      <p:sp>
        <p:nvSpPr>
          <p:cNvPr id="31" name="Text 29"/>
          <p:cNvSpPr txBox="1"/>
          <p:nvPr/>
        </p:nvSpPr>
        <p:spPr>
          <a:xfrm>
            <a:off x="3081528" y="29900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2" name="Text 30"/>
          <p:cNvSpPr txBox="1"/>
          <p:nvPr/>
        </p:nvSpPr>
        <p:spPr>
          <a:xfrm>
            <a:off x="3081528" y="3410712"/>
            <a:ext cx="1115568" cy="621792"/>
          </a:xfrm>
          <a:prstGeom prst="rect">
            <a:avLst/>
          </a:prstGeom>
          <a:noFill/>
          <a:ln/>
        </p:spPr>
        <p:txBody>
          <a:bodyPr wrap="square" lIns="0" tIns="0" rIns="0" bIns="0" rtlCol="0" anchor="t"/>
          <a:lstStyle/>
          <a:p>
            <a:pPr indent="0" marL="0">
              <a:buNone/>
            </a:pPr>
            <a:r>
              <a:rPr lang="en-US" sz="1200" dirty="0">
                <a:solidFill>
                  <a:schemeClr val="tx1"/>
                </a:solidFill>
              </a:rPr>
              <a:t>List videos from MySQL</a:t>
            </a:r>
            <a:endParaRPr lang="en-US" sz="1200" dirty="0"/>
          </a:p>
        </p:txBody>
      </p:sp>
      <p:sp>
        <p:nvSpPr>
          <p:cNvPr id="33" name="Watch step 3"/>
          <p:cNvSpPr/>
          <p:nvPr/>
        </p:nvSpPr>
        <p:spPr>
          <a:xfrm>
            <a:off x="4434840" y="2880360"/>
            <a:ext cx="1325880" cy="1188720"/>
          </a:xfrm>
          <a:prstGeom prst="roundRect">
            <a:avLst>
              <a:gd name="adj" fmla="val 6154"/>
            </a:avLst>
          </a:prstGeom>
          <a:solidFill>
            <a:schemeClr val="bg2"/>
          </a:solidFill>
          <a:ln w="12700">
            <a:solidFill>
              <a:schemeClr val="bg2"/>
            </a:solidFill>
            <a:prstDash val="solid"/>
          </a:ln>
        </p:spPr>
      </p:sp>
      <p:sp>
        <p:nvSpPr>
          <p:cNvPr id="34" name="Watch step 3 number bg"/>
          <p:cNvSpPr/>
          <p:nvPr/>
        </p:nvSpPr>
        <p:spPr>
          <a:xfrm>
            <a:off x="4544568" y="2990088"/>
            <a:ext cx="329184" cy="329184"/>
          </a:xfrm>
          <a:prstGeom prst="ellipse">
            <a:avLst/>
          </a:prstGeom>
          <a:solidFill>
            <a:schemeClr val="accent2"/>
          </a:solidFill>
          <a:ln w="12700">
            <a:solidFill>
              <a:schemeClr val="accent2"/>
            </a:solidFill>
            <a:prstDash val="solid"/>
          </a:ln>
        </p:spPr>
      </p:sp>
      <p:sp>
        <p:nvSpPr>
          <p:cNvPr id="35" name="Text 33"/>
          <p:cNvSpPr txBox="1"/>
          <p:nvPr/>
        </p:nvSpPr>
        <p:spPr>
          <a:xfrm>
            <a:off x="4544568" y="29900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6" name="Text 34"/>
          <p:cNvSpPr txBox="1"/>
          <p:nvPr/>
        </p:nvSpPr>
        <p:spPr>
          <a:xfrm>
            <a:off x="4544568" y="3410712"/>
            <a:ext cx="1115568" cy="621792"/>
          </a:xfrm>
          <a:prstGeom prst="rect">
            <a:avLst/>
          </a:prstGeom>
          <a:noFill/>
          <a:ln/>
        </p:spPr>
        <p:txBody>
          <a:bodyPr wrap="square" lIns="0" tIns="0" rIns="0" bIns="0" rtlCol="0" anchor="t"/>
          <a:lstStyle/>
          <a:p>
            <a:pPr indent="0" marL="0">
              <a:buNone/>
            </a:pPr>
            <a:r>
              <a:rPr lang="en-US" sz="1200" dirty="0">
                <a:solidFill>
                  <a:schemeClr val="tx1"/>
                </a:solidFill>
              </a:rPr>
              <a:t>Browser sends Range</a:t>
            </a:r>
            <a:endParaRPr lang="en-US" sz="1200" dirty="0"/>
          </a:p>
        </p:txBody>
      </p:sp>
      <p:sp>
        <p:nvSpPr>
          <p:cNvPr id="37" name="Watch step 4"/>
          <p:cNvSpPr/>
          <p:nvPr/>
        </p:nvSpPr>
        <p:spPr>
          <a:xfrm>
            <a:off x="5897880" y="2880360"/>
            <a:ext cx="1325880" cy="1188720"/>
          </a:xfrm>
          <a:prstGeom prst="roundRect">
            <a:avLst>
              <a:gd name="adj" fmla="val 6154"/>
            </a:avLst>
          </a:prstGeom>
          <a:solidFill>
            <a:schemeClr val="bg2"/>
          </a:solidFill>
          <a:ln w="12700">
            <a:solidFill>
              <a:schemeClr val="bg2"/>
            </a:solidFill>
            <a:prstDash val="solid"/>
          </a:ln>
        </p:spPr>
      </p:sp>
      <p:sp>
        <p:nvSpPr>
          <p:cNvPr id="38" name="Watch step 4 number bg"/>
          <p:cNvSpPr/>
          <p:nvPr/>
        </p:nvSpPr>
        <p:spPr>
          <a:xfrm>
            <a:off x="6007608" y="2990088"/>
            <a:ext cx="329184" cy="329184"/>
          </a:xfrm>
          <a:prstGeom prst="ellipse">
            <a:avLst/>
          </a:prstGeom>
          <a:solidFill>
            <a:schemeClr val="accent2"/>
          </a:solidFill>
          <a:ln w="12700">
            <a:solidFill>
              <a:schemeClr val="accent2"/>
            </a:solidFill>
            <a:prstDash val="solid"/>
          </a:ln>
        </p:spPr>
      </p:sp>
      <p:sp>
        <p:nvSpPr>
          <p:cNvPr id="39" name="Text 37"/>
          <p:cNvSpPr txBox="1"/>
          <p:nvPr/>
        </p:nvSpPr>
        <p:spPr>
          <a:xfrm>
            <a:off x="6007608" y="29900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0" name="Text 38"/>
          <p:cNvSpPr txBox="1"/>
          <p:nvPr/>
        </p:nvSpPr>
        <p:spPr>
          <a:xfrm>
            <a:off x="6007608" y="3410712"/>
            <a:ext cx="1115568" cy="621792"/>
          </a:xfrm>
          <a:prstGeom prst="rect">
            <a:avLst/>
          </a:prstGeom>
          <a:noFill/>
          <a:ln/>
        </p:spPr>
        <p:txBody>
          <a:bodyPr wrap="square" lIns="0" tIns="0" rIns="0" bIns="0" rtlCol="0" anchor="t"/>
          <a:lstStyle/>
          <a:p>
            <a:pPr indent="0" marL="0">
              <a:buNone/>
            </a:pPr>
            <a:r>
              <a:rPr lang="en-US" sz="1200" dirty="0">
                <a:solidFill>
                  <a:schemeClr val="tx1"/>
                </a:solidFill>
              </a:rPr>
              <a:t>Forward Range to file service</a:t>
            </a:r>
            <a:endParaRPr lang="en-US" sz="1200" dirty="0"/>
          </a:p>
        </p:txBody>
      </p:sp>
      <p:sp>
        <p:nvSpPr>
          <p:cNvPr id="41" name="Watch step 5"/>
          <p:cNvSpPr/>
          <p:nvPr/>
        </p:nvSpPr>
        <p:spPr>
          <a:xfrm>
            <a:off x="7360920" y="2880360"/>
            <a:ext cx="1325880" cy="1188720"/>
          </a:xfrm>
          <a:prstGeom prst="roundRect">
            <a:avLst>
              <a:gd name="adj" fmla="val 6154"/>
            </a:avLst>
          </a:prstGeom>
          <a:solidFill>
            <a:schemeClr val="bg2"/>
          </a:solidFill>
          <a:ln w="12700">
            <a:solidFill>
              <a:schemeClr val="bg2"/>
            </a:solidFill>
            <a:prstDash val="solid"/>
          </a:ln>
        </p:spPr>
      </p:sp>
      <p:sp>
        <p:nvSpPr>
          <p:cNvPr id="42" name="Watch step 5 number bg"/>
          <p:cNvSpPr/>
          <p:nvPr/>
        </p:nvSpPr>
        <p:spPr>
          <a:xfrm>
            <a:off x="7470648" y="2990088"/>
            <a:ext cx="329184" cy="329184"/>
          </a:xfrm>
          <a:prstGeom prst="ellipse">
            <a:avLst/>
          </a:prstGeom>
          <a:solidFill>
            <a:schemeClr val="accent2"/>
          </a:solidFill>
          <a:ln w="12700">
            <a:solidFill>
              <a:schemeClr val="accent2"/>
            </a:solidFill>
            <a:prstDash val="solid"/>
          </a:ln>
        </p:spPr>
      </p:sp>
      <p:sp>
        <p:nvSpPr>
          <p:cNvPr id="43" name="Text 41"/>
          <p:cNvSpPr txBox="1"/>
          <p:nvPr/>
        </p:nvSpPr>
        <p:spPr>
          <a:xfrm>
            <a:off x="7470648" y="29900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4" name="Text 42"/>
          <p:cNvSpPr txBox="1"/>
          <p:nvPr/>
        </p:nvSpPr>
        <p:spPr>
          <a:xfrm>
            <a:off x="7470648" y="3410712"/>
            <a:ext cx="1115568" cy="621792"/>
          </a:xfrm>
          <a:prstGeom prst="rect">
            <a:avLst/>
          </a:prstGeom>
          <a:noFill/>
          <a:ln/>
        </p:spPr>
        <p:txBody>
          <a:bodyPr wrap="square" lIns="0" tIns="0" rIns="0" bIns="0" rtlCol="0" anchor="t"/>
          <a:lstStyle/>
          <a:p>
            <a:pPr indent="0" marL="0">
              <a:buNone/>
            </a:pPr>
            <a:r>
              <a:rPr lang="en-US" sz="1200" dirty="0">
                <a:solidFill>
                  <a:schemeClr val="tx1"/>
                </a:solidFill>
              </a:rPr>
              <a:t>Pipe 206 bytes back</a:t>
            </a:r>
            <a:endParaRPr lang="en-US" sz="1200" dirty="0"/>
          </a:p>
        </p:txBody>
      </p:sp>
      <p:sp>
        <p:nvSpPr>
          <p:cNvPr id="45" name="Text 43"/>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200" i="1" dirty="0">
                <a:solidFill>
                  <a:schemeClr val="accent5"/>
                </a:solidFill>
              </a:rPr>
              <a:t>The video is streamed end to end and is never held whole in memory.</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The two web apps</a:t>
            </a:r>
            <a:endParaRPr lang="en-US" sz="3200" dirty="0"/>
          </a:p>
        </p:txBody>
      </p:sp>
      <p:pic>
        <p:nvPicPr>
          <p:cNvPr id="3" name="Upload app screenshot" descr="/tmp/claude-0/-home-claude/ea3fcbd4-f2e3-5359-a1cf-43593729b758/scratchpad/deck/upload-crop.png">    </p:cNvPr>
          <p:cNvPicPr>
            <a:picLocks noChangeAspect="1"/>
          </p:cNvPicPr>
          <p:nvPr/>
        </p:nvPicPr>
        <p:blipFill>
          <a:blip r:embed="rId1"/>
          <a:stretch>
            <a:fillRect/>
          </a:stretch>
        </p:blipFill>
        <p:spPr>
          <a:xfrm>
            <a:off x="457200" y="1097280"/>
            <a:ext cx="4023360" cy="2200046"/>
          </a:xfrm>
          <a:prstGeom prst="rect">
            <a:avLst/>
          </a:prstGeom>
        </p:spPr>
      </p:pic>
      <p:pic>
        <p:nvPicPr>
          <p:cNvPr id="4" name="Streaming app screenshot" descr="/tmp/claude-0/-home-claude/ea3fcbd4-f2e3-5359-a1cf-43593729b758/scratchpad/deck/watch-crop.png">    </p:cNvPr>
          <p:cNvPicPr>
            <a:picLocks noChangeAspect="1"/>
          </p:cNvPicPr>
          <p:nvPr/>
        </p:nvPicPr>
        <p:blipFill>
          <a:blip r:embed="rId2"/>
          <a:stretch>
            <a:fillRect/>
          </a:stretch>
        </p:blipFill>
        <p:spPr>
          <a:xfrm>
            <a:off x="4663440" y="1097280"/>
            <a:ext cx="4023360" cy="2200046"/>
          </a:xfrm>
          <a:prstGeom prst="rect">
            <a:avLst/>
          </a:prstGeom>
        </p:spPr>
      </p:pic>
      <p:sp>
        <p:nvSpPr>
          <p:cNvPr id="5" name="Text 1"/>
          <p:cNvSpPr txBox="1"/>
          <p:nvPr/>
        </p:nvSpPr>
        <p:spPr>
          <a:xfrm>
            <a:off x="457200" y="3429000"/>
            <a:ext cx="4023360" cy="274320"/>
          </a:xfrm>
          <a:prstGeom prst="rect">
            <a:avLst/>
          </a:prstGeom>
          <a:noFill/>
          <a:ln/>
        </p:spPr>
        <p:txBody>
          <a:bodyPr wrap="square" lIns="0" tIns="0" rIns="0" bIns="0" rtlCol="0" anchor="t"/>
          <a:lstStyle/>
          <a:p>
            <a:pPr indent="0" marL="0">
              <a:buNone/>
            </a:pPr>
            <a:r>
              <a:rPr lang="en-US" sz="1500" b="1" dirty="0">
                <a:solidFill>
                  <a:schemeClr val="accent1"/>
                </a:solidFill>
              </a:rPr>
              <a:t>Upload app :8081</a:t>
            </a:r>
            <a:endParaRPr lang="en-US" sz="1500" dirty="0"/>
          </a:p>
        </p:txBody>
      </p:sp>
      <p:sp>
        <p:nvSpPr>
          <p:cNvPr id="6" name="Text 2"/>
          <p:cNvSpPr txBox="1"/>
          <p:nvPr/>
        </p:nvSpPr>
        <p:spPr>
          <a:xfrm>
            <a:off x="457200" y="3730752"/>
            <a:ext cx="4023360" cy="548640"/>
          </a:xfrm>
          <a:prstGeom prst="rect">
            <a:avLst/>
          </a:prstGeom>
          <a:noFill/>
          <a:ln/>
        </p:spPr>
        <p:txBody>
          <a:bodyPr wrap="square" lIns="0" tIns="0" rIns="0" bIns="0" rtlCol="0" anchor="t"/>
          <a:lstStyle/>
          <a:p>
            <a:pPr indent="0" marL="0">
              <a:buNone/>
            </a:pPr>
            <a:r>
              <a:rPr lang="en-US" sz="1300" dirty="0">
                <a:solidFill>
                  <a:schemeClr val="accent6"/>
                </a:solidFill>
              </a:rPr>
              <a:t>Upload with progress, list of your uploads, admin form to create uploader accounts</a:t>
            </a:r>
            <a:endParaRPr lang="en-US" sz="1300" dirty="0"/>
          </a:p>
        </p:txBody>
      </p:sp>
      <p:sp>
        <p:nvSpPr>
          <p:cNvPr id="7" name="Text 3"/>
          <p:cNvSpPr txBox="1"/>
          <p:nvPr/>
        </p:nvSpPr>
        <p:spPr>
          <a:xfrm>
            <a:off x="4663440" y="3429000"/>
            <a:ext cx="4023360" cy="274320"/>
          </a:xfrm>
          <a:prstGeom prst="rect">
            <a:avLst/>
          </a:prstGeom>
          <a:noFill/>
          <a:ln/>
        </p:spPr>
        <p:txBody>
          <a:bodyPr wrap="square" lIns="0" tIns="0" rIns="0" bIns="0" rtlCol="0" anchor="t"/>
          <a:lstStyle/>
          <a:p>
            <a:pPr indent="0" marL="0">
              <a:buNone/>
            </a:pPr>
            <a:r>
              <a:rPr lang="en-US" sz="1500" b="1" dirty="0">
                <a:solidFill>
                  <a:schemeClr val="accent1"/>
                </a:solidFill>
              </a:rPr>
              <a:t>Streaming app :8082</a:t>
            </a:r>
            <a:endParaRPr lang="en-US" sz="1500" dirty="0"/>
          </a:p>
        </p:txBody>
      </p:sp>
      <p:sp>
        <p:nvSpPr>
          <p:cNvPr id="8" name="Text 4"/>
          <p:cNvSpPr txBox="1"/>
          <p:nvPr/>
        </p:nvSpPr>
        <p:spPr>
          <a:xfrm>
            <a:off x="4663440" y="3730752"/>
            <a:ext cx="4023360" cy="548640"/>
          </a:xfrm>
          <a:prstGeom prst="rect">
            <a:avLst/>
          </a:prstGeom>
          <a:noFill/>
          <a:ln/>
        </p:spPr>
        <p:txBody>
          <a:bodyPr wrap="square" lIns="0" tIns="0" rIns="0" bIns="0" rtlCol="0" anchor="t"/>
          <a:lstStyle/>
          <a:p>
            <a:pPr indent="0" marL="0">
              <a:buNone/>
            </a:pPr>
            <a:r>
              <a:rPr lang="en-US" sz="1300" dirty="0">
                <a:solidFill>
                  <a:schemeClr val="accent6"/>
                </a:solidFill>
              </a:rPr>
              <a:t>Paged library and HTML5 player; seeking triggers Range requests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Dockerfiles built for size, speed and safety</a:t>
            </a:r>
            <a:endParaRPr lang="en-US" sz="3200" dirty="0"/>
          </a:p>
        </p:txBody>
      </p:sp>
      <p:sp>
        <p:nvSpPr>
          <p:cNvPr id="3" name="Docker card 1"/>
          <p:cNvSpPr/>
          <p:nvPr/>
        </p:nvSpPr>
        <p:spPr>
          <a:xfrm>
            <a:off x="457200" y="1188720"/>
            <a:ext cx="2606040" cy="1508760"/>
          </a:xfrm>
          <a:prstGeom prst="roundRect">
            <a:avLst>
              <a:gd name="adj" fmla="val 4848"/>
            </a:avLst>
          </a:prstGeom>
          <a:solidFill>
            <a:schemeClr val="bg2"/>
          </a:solidFill>
          <a:ln w="12700">
            <a:solidFill>
              <a:schemeClr val="bg2"/>
            </a:solidFill>
            <a:prstDash val="solid"/>
          </a:ln>
        </p:spPr>
      </p:sp>
      <p:sp>
        <p:nvSpPr>
          <p:cNvPr id="4" name="Docker 1 circle"/>
          <p:cNvSpPr/>
          <p:nvPr/>
        </p:nvSpPr>
        <p:spPr>
          <a:xfrm>
            <a:off x="640080" y="1371600"/>
            <a:ext cx="502920" cy="502920"/>
          </a:xfrm>
          <a:prstGeom prst="ellipse">
            <a:avLst/>
          </a:prstGeom>
          <a:solidFill>
            <a:schemeClr val="accent1"/>
          </a:solidFill>
          <a:ln w="12700">
            <a:solidFill>
              <a:schemeClr val="accent1"/>
            </a:solidFill>
            <a:prstDash val="solid"/>
          </a:ln>
        </p:spPr>
      </p:sp>
      <p:pic>
        <p:nvPicPr>
          <p:cNvPr id="5" name="Docker 1 icon"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6" name="Text 3"/>
          <p:cNvSpPr txBox="1"/>
          <p:nvPr/>
        </p:nvSpPr>
        <p:spPr>
          <a:xfrm>
            <a:off x="1280160" y="1444752"/>
            <a:ext cx="1691640" cy="411480"/>
          </a:xfrm>
          <a:prstGeom prst="rect">
            <a:avLst/>
          </a:prstGeom>
          <a:noFill/>
          <a:ln/>
        </p:spPr>
        <p:txBody>
          <a:bodyPr wrap="square" lIns="0" tIns="0" rIns="0" bIns="0" rtlCol="0" anchor="ctr"/>
          <a:lstStyle/>
          <a:p>
            <a:pPr indent="0" marL="0">
              <a:buNone/>
            </a:pPr>
            <a:r>
              <a:rPr lang="en-US" sz="1500" b="1" dirty="0">
                <a:solidFill>
                  <a:schemeClr val="tx1"/>
                </a:solidFill>
              </a:rPr>
              <a:t>Multi-stage, all 4 images</a:t>
            </a:r>
            <a:endParaRPr lang="en-US" sz="1500" dirty="0"/>
          </a:p>
        </p:txBody>
      </p:sp>
      <p:sp>
        <p:nvSpPr>
          <p:cNvPr id="7" name="Text 4"/>
          <p:cNvSpPr txBox="1"/>
          <p:nvPr/>
        </p:nvSpPr>
        <p:spPr>
          <a:xfrm>
            <a:off x="640080" y="199339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build → test → runtime; only the runtime stage ships</a:t>
            </a:r>
            <a:endParaRPr lang="en-US" sz="1200" dirty="0"/>
          </a:p>
        </p:txBody>
      </p:sp>
      <p:sp>
        <p:nvSpPr>
          <p:cNvPr id="8" name="Docker card 2"/>
          <p:cNvSpPr/>
          <p:nvPr/>
        </p:nvSpPr>
        <p:spPr>
          <a:xfrm>
            <a:off x="3246120" y="1188720"/>
            <a:ext cx="2606040" cy="1508760"/>
          </a:xfrm>
          <a:prstGeom prst="roundRect">
            <a:avLst>
              <a:gd name="adj" fmla="val 4848"/>
            </a:avLst>
          </a:prstGeom>
          <a:solidFill>
            <a:schemeClr val="bg2"/>
          </a:solidFill>
          <a:ln w="12700">
            <a:solidFill>
              <a:schemeClr val="bg2"/>
            </a:solidFill>
            <a:prstDash val="solid"/>
          </a:ln>
        </p:spPr>
      </p:sp>
      <p:sp>
        <p:nvSpPr>
          <p:cNvPr id="9" name="Docker 2 circle"/>
          <p:cNvSpPr/>
          <p:nvPr/>
        </p:nvSpPr>
        <p:spPr>
          <a:xfrm>
            <a:off x="3429000" y="1371600"/>
            <a:ext cx="502920" cy="502920"/>
          </a:xfrm>
          <a:prstGeom prst="ellipse">
            <a:avLst/>
          </a:prstGeom>
          <a:solidFill>
            <a:schemeClr val="accent1"/>
          </a:solidFill>
          <a:ln w="12700">
            <a:solidFill>
              <a:schemeClr val="accent1"/>
            </a:solidFill>
            <a:prstDash val="solid"/>
          </a:ln>
        </p:spPr>
      </p:sp>
      <p:pic>
        <p:nvPicPr>
          <p:cNvPr id="10" name="Docker 2 icon" descr="preencoded.png">    </p:cNvPr>
          <p:cNvPicPr>
            <a:picLocks noChangeAspect="1"/>
          </p:cNvPicPr>
          <p:nvPr/>
        </p:nvPicPr>
        <p:blipFill>
          <a:blip r:embed="rId2"/>
          <a:stretch>
            <a:fillRect/>
          </a:stretch>
        </p:blipFill>
        <p:spPr>
          <a:xfrm>
            <a:off x="3554730" y="1497330"/>
            <a:ext cx="251460" cy="251460"/>
          </a:xfrm>
          <a:prstGeom prst="rect">
            <a:avLst/>
          </a:prstGeom>
        </p:spPr>
      </p:pic>
      <p:sp>
        <p:nvSpPr>
          <p:cNvPr id="11" name="Text 7"/>
          <p:cNvSpPr txBox="1"/>
          <p:nvPr/>
        </p:nvSpPr>
        <p:spPr>
          <a:xfrm>
            <a:off x="4069080" y="1444752"/>
            <a:ext cx="1691640" cy="411480"/>
          </a:xfrm>
          <a:prstGeom prst="rect">
            <a:avLst/>
          </a:prstGeom>
          <a:noFill/>
          <a:ln/>
        </p:spPr>
        <p:txBody>
          <a:bodyPr wrap="square" lIns="0" tIns="0" rIns="0" bIns="0" rtlCol="0" anchor="ctr"/>
          <a:lstStyle/>
          <a:p>
            <a:pPr indent="0" marL="0">
              <a:buNone/>
            </a:pPr>
            <a:r>
              <a:rPr lang="en-US" sz="1500" b="1" dirty="0">
                <a:solidFill>
                  <a:schemeClr val="tx1"/>
                </a:solidFill>
              </a:rPr>
              <a:t>Small bases</a:t>
            </a:r>
            <a:endParaRPr lang="en-US" sz="1500" dirty="0"/>
          </a:p>
        </p:txBody>
      </p:sp>
      <p:sp>
        <p:nvSpPr>
          <p:cNvPr id="12" name="Text 8"/>
          <p:cNvSpPr txBox="1"/>
          <p:nvPr/>
        </p:nvSpPr>
        <p:spPr>
          <a:xfrm>
            <a:off x="3429000" y="199339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distroless Node for the file service, alpine for the web apps (npm removed), slim for Python</a:t>
            </a:r>
            <a:endParaRPr lang="en-US" sz="1200" dirty="0"/>
          </a:p>
        </p:txBody>
      </p:sp>
      <p:sp>
        <p:nvSpPr>
          <p:cNvPr id="13" name="Docker card 3"/>
          <p:cNvSpPr/>
          <p:nvPr/>
        </p:nvSpPr>
        <p:spPr>
          <a:xfrm>
            <a:off x="6035040" y="1188720"/>
            <a:ext cx="2606040" cy="1508760"/>
          </a:xfrm>
          <a:prstGeom prst="roundRect">
            <a:avLst>
              <a:gd name="adj" fmla="val 4848"/>
            </a:avLst>
          </a:prstGeom>
          <a:solidFill>
            <a:schemeClr val="bg2"/>
          </a:solidFill>
          <a:ln w="12700">
            <a:solidFill>
              <a:schemeClr val="bg2"/>
            </a:solidFill>
            <a:prstDash val="solid"/>
          </a:ln>
        </p:spPr>
      </p:sp>
      <p:sp>
        <p:nvSpPr>
          <p:cNvPr id="14" name="Docker 3 circle"/>
          <p:cNvSpPr/>
          <p:nvPr/>
        </p:nvSpPr>
        <p:spPr>
          <a:xfrm>
            <a:off x="6217920" y="1371600"/>
            <a:ext cx="502920" cy="502920"/>
          </a:xfrm>
          <a:prstGeom prst="ellipse">
            <a:avLst/>
          </a:prstGeom>
          <a:solidFill>
            <a:schemeClr val="accent1"/>
          </a:solidFill>
          <a:ln w="12700">
            <a:solidFill>
              <a:schemeClr val="accent1"/>
            </a:solidFill>
            <a:prstDash val="solid"/>
          </a:ln>
        </p:spPr>
      </p:sp>
      <p:pic>
        <p:nvPicPr>
          <p:cNvPr id="15" name="Docker 3 icon" descr="preencoded.png">    </p:cNvPr>
          <p:cNvPicPr>
            <a:picLocks noChangeAspect="1"/>
          </p:cNvPicPr>
          <p:nvPr/>
        </p:nvPicPr>
        <p:blipFill>
          <a:blip r:embed="rId3"/>
          <a:stretch>
            <a:fillRect/>
          </a:stretch>
        </p:blipFill>
        <p:spPr>
          <a:xfrm>
            <a:off x="6343650" y="1497330"/>
            <a:ext cx="251460" cy="251460"/>
          </a:xfrm>
          <a:prstGeom prst="rect">
            <a:avLst/>
          </a:prstGeom>
        </p:spPr>
      </p:pic>
      <p:sp>
        <p:nvSpPr>
          <p:cNvPr id="16" name="Text 11"/>
          <p:cNvSpPr txBox="1"/>
          <p:nvPr/>
        </p:nvSpPr>
        <p:spPr>
          <a:xfrm>
            <a:off x="6858000" y="1444752"/>
            <a:ext cx="1691640" cy="411480"/>
          </a:xfrm>
          <a:prstGeom prst="rect">
            <a:avLst/>
          </a:prstGeom>
          <a:noFill/>
          <a:ln/>
        </p:spPr>
        <p:txBody>
          <a:bodyPr wrap="square" lIns="0" tIns="0" rIns="0" bIns="0" rtlCol="0" anchor="ctr"/>
          <a:lstStyle/>
          <a:p>
            <a:pPr indent="0" marL="0">
              <a:buNone/>
            </a:pPr>
            <a:r>
              <a:rPr lang="en-US" sz="1500" b="1" dirty="0">
                <a:solidFill>
                  <a:schemeClr val="tx1"/>
                </a:solidFill>
              </a:rPr>
              <a:t>Cache-friendly layers</a:t>
            </a:r>
            <a:endParaRPr lang="en-US" sz="1500" dirty="0"/>
          </a:p>
        </p:txBody>
      </p:sp>
      <p:sp>
        <p:nvSpPr>
          <p:cNvPr id="17" name="Text 12"/>
          <p:cNvSpPr txBox="1"/>
          <p:nvPr/>
        </p:nvSpPr>
        <p:spPr>
          <a:xfrm>
            <a:off x="6217920" y="199339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Dependency manifests copied before source, plus BuildKit cache mounts</a:t>
            </a:r>
            <a:endParaRPr lang="en-US" sz="1200" dirty="0"/>
          </a:p>
        </p:txBody>
      </p:sp>
      <p:sp>
        <p:nvSpPr>
          <p:cNvPr id="18" name="Docker card 4"/>
          <p:cNvSpPr/>
          <p:nvPr/>
        </p:nvSpPr>
        <p:spPr>
          <a:xfrm>
            <a:off x="457200" y="2880360"/>
            <a:ext cx="2606040" cy="1508760"/>
          </a:xfrm>
          <a:prstGeom prst="roundRect">
            <a:avLst>
              <a:gd name="adj" fmla="val 4848"/>
            </a:avLst>
          </a:prstGeom>
          <a:solidFill>
            <a:schemeClr val="bg2"/>
          </a:solidFill>
          <a:ln w="12700">
            <a:solidFill>
              <a:schemeClr val="bg2"/>
            </a:solidFill>
            <a:prstDash val="solid"/>
          </a:ln>
        </p:spPr>
      </p:sp>
      <p:sp>
        <p:nvSpPr>
          <p:cNvPr id="19" name="Docker 4 circle"/>
          <p:cNvSpPr/>
          <p:nvPr/>
        </p:nvSpPr>
        <p:spPr>
          <a:xfrm>
            <a:off x="640080" y="3063240"/>
            <a:ext cx="502920" cy="502920"/>
          </a:xfrm>
          <a:prstGeom prst="ellipse">
            <a:avLst/>
          </a:prstGeom>
          <a:solidFill>
            <a:schemeClr val="accent1"/>
          </a:solidFill>
          <a:ln w="12700">
            <a:solidFill>
              <a:schemeClr val="accent1"/>
            </a:solidFill>
            <a:prstDash val="solid"/>
          </a:ln>
        </p:spPr>
      </p:sp>
      <p:pic>
        <p:nvPicPr>
          <p:cNvPr id="20" name="Docker 4 icon" descr="preencoded.png">    </p:cNvPr>
          <p:cNvPicPr>
            <a:picLocks noChangeAspect="1"/>
          </p:cNvPicPr>
          <p:nvPr/>
        </p:nvPicPr>
        <p:blipFill>
          <a:blip r:embed="rId4"/>
          <a:stretch>
            <a:fillRect/>
          </a:stretch>
        </p:blipFill>
        <p:spPr>
          <a:xfrm>
            <a:off x="765810" y="3188970"/>
            <a:ext cx="251460" cy="251460"/>
          </a:xfrm>
          <a:prstGeom prst="rect">
            <a:avLst/>
          </a:prstGeom>
        </p:spPr>
      </p:pic>
      <p:sp>
        <p:nvSpPr>
          <p:cNvPr id="21" name="Text 15"/>
          <p:cNvSpPr txBox="1"/>
          <p:nvPr/>
        </p:nvSpPr>
        <p:spPr>
          <a:xfrm>
            <a:off x="1280160" y="3136392"/>
            <a:ext cx="1691640" cy="411480"/>
          </a:xfrm>
          <a:prstGeom prst="rect">
            <a:avLst/>
          </a:prstGeom>
          <a:noFill/>
          <a:ln/>
        </p:spPr>
        <p:txBody>
          <a:bodyPr wrap="square" lIns="0" tIns="0" rIns="0" bIns="0" rtlCol="0" anchor="ctr"/>
          <a:lstStyle/>
          <a:p>
            <a:pPr indent="0" marL="0">
              <a:buNone/>
            </a:pPr>
            <a:r>
              <a:rPr lang="en-US" sz="1500" b="1" dirty="0">
                <a:solidFill>
                  <a:schemeClr val="tx1"/>
                </a:solidFill>
              </a:rPr>
              <a:t>amd64 + arm64</a:t>
            </a:r>
            <a:endParaRPr lang="en-US" sz="1500" dirty="0"/>
          </a:p>
        </p:txBody>
      </p:sp>
      <p:sp>
        <p:nvSpPr>
          <p:cNvPr id="22" name="Text 16"/>
          <p:cNvSpPr txBox="1"/>
          <p:nvPr/>
        </p:nvSpPr>
        <p:spPr>
          <a:xfrm>
            <a:off x="640080" y="368503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buildx multi-arch; every base image exists for both, no native modules to compile</a:t>
            </a:r>
            <a:endParaRPr lang="en-US" sz="1200" dirty="0"/>
          </a:p>
        </p:txBody>
      </p:sp>
      <p:sp>
        <p:nvSpPr>
          <p:cNvPr id="23" name="Docker card 5"/>
          <p:cNvSpPr/>
          <p:nvPr/>
        </p:nvSpPr>
        <p:spPr>
          <a:xfrm>
            <a:off x="3246120" y="2880360"/>
            <a:ext cx="2606040" cy="1508760"/>
          </a:xfrm>
          <a:prstGeom prst="roundRect">
            <a:avLst>
              <a:gd name="adj" fmla="val 4848"/>
            </a:avLst>
          </a:prstGeom>
          <a:solidFill>
            <a:schemeClr val="bg2"/>
          </a:solidFill>
          <a:ln w="12700">
            <a:solidFill>
              <a:schemeClr val="bg2"/>
            </a:solidFill>
            <a:prstDash val="solid"/>
          </a:ln>
        </p:spPr>
      </p:sp>
      <p:sp>
        <p:nvSpPr>
          <p:cNvPr id="24" name="Docker 5 circle"/>
          <p:cNvSpPr/>
          <p:nvPr/>
        </p:nvSpPr>
        <p:spPr>
          <a:xfrm>
            <a:off x="3429000" y="3063240"/>
            <a:ext cx="502920" cy="502920"/>
          </a:xfrm>
          <a:prstGeom prst="ellipse">
            <a:avLst/>
          </a:prstGeom>
          <a:solidFill>
            <a:schemeClr val="accent1"/>
          </a:solidFill>
          <a:ln w="12700">
            <a:solidFill>
              <a:schemeClr val="accent1"/>
            </a:solidFill>
            <a:prstDash val="solid"/>
          </a:ln>
        </p:spPr>
      </p:sp>
      <p:pic>
        <p:nvPicPr>
          <p:cNvPr id="25" name="Docker 5 icon" descr="preencoded.png">    </p:cNvPr>
          <p:cNvPicPr>
            <a:picLocks noChangeAspect="1"/>
          </p:cNvPicPr>
          <p:nvPr/>
        </p:nvPicPr>
        <p:blipFill>
          <a:blip r:embed="rId5"/>
          <a:stretch>
            <a:fillRect/>
          </a:stretch>
        </p:blipFill>
        <p:spPr>
          <a:xfrm>
            <a:off x="3554730" y="3188970"/>
            <a:ext cx="251460" cy="251460"/>
          </a:xfrm>
          <a:prstGeom prst="rect">
            <a:avLst/>
          </a:prstGeom>
        </p:spPr>
      </p:pic>
      <p:sp>
        <p:nvSpPr>
          <p:cNvPr id="26" name="Text 19"/>
          <p:cNvSpPr txBox="1"/>
          <p:nvPr/>
        </p:nvSpPr>
        <p:spPr>
          <a:xfrm>
            <a:off x="4069080" y="3136392"/>
            <a:ext cx="1691640" cy="411480"/>
          </a:xfrm>
          <a:prstGeom prst="rect">
            <a:avLst/>
          </a:prstGeom>
          <a:noFill/>
          <a:ln/>
        </p:spPr>
        <p:txBody>
          <a:bodyPr wrap="square" lIns="0" tIns="0" rIns="0" bIns="0" rtlCol="0" anchor="ctr"/>
          <a:lstStyle/>
          <a:p>
            <a:pPr indent="0" marL="0">
              <a:buNone/>
            </a:pPr>
            <a:r>
              <a:rPr lang="en-US" sz="1500" b="1" dirty="0">
                <a:solidFill>
                  <a:schemeClr val="tx1"/>
                </a:solidFill>
              </a:rPr>
              <a:t>Non-root</a:t>
            </a:r>
            <a:endParaRPr lang="en-US" sz="1500" dirty="0"/>
          </a:p>
        </p:txBody>
      </p:sp>
      <p:sp>
        <p:nvSpPr>
          <p:cNvPr id="27" name="Text 20"/>
          <p:cNvSpPr txBox="1"/>
          <p:nvPr/>
        </p:nvSpPr>
        <p:spPr>
          <a:xfrm>
            <a:off x="3429000" y="368503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uid 10001, node, distroless nonroot; read-only root fs, cap_drop ALL</a:t>
            </a:r>
            <a:endParaRPr lang="en-US" sz="1200" dirty="0"/>
          </a:p>
        </p:txBody>
      </p:sp>
      <p:sp>
        <p:nvSpPr>
          <p:cNvPr id="28" name="Docker card 6"/>
          <p:cNvSpPr/>
          <p:nvPr/>
        </p:nvSpPr>
        <p:spPr>
          <a:xfrm>
            <a:off x="6035040" y="2880360"/>
            <a:ext cx="2606040" cy="1508760"/>
          </a:xfrm>
          <a:prstGeom prst="roundRect">
            <a:avLst>
              <a:gd name="adj" fmla="val 4848"/>
            </a:avLst>
          </a:prstGeom>
          <a:solidFill>
            <a:schemeClr val="bg2"/>
          </a:solidFill>
          <a:ln w="12700">
            <a:solidFill>
              <a:schemeClr val="bg2"/>
            </a:solidFill>
            <a:prstDash val="solid"/>
          </a:ln>
        </p:spPr>
      </p:sp>
      <p:sp>
        <p:nvSpPr>
          <p:cNvPr id="29" name="Docker 6 circle"/>
          <p:cNvSpPr/>
          <p:nvPr/>
        </p:nvSpPr>
        <p:spPr>
          <a:xfrm>
            <a:off x="6217920" y="3063240"/>
            <a:ext cx="502920" cy="502920"/>
          </a:xfrm>
          <a:prstGeom prst="ellipse">
            <a:avLst/>
          </a:prstGeom>
          <a:solidFill>
            <a:schemeClr val="accent1"/>
          </a:solidFill>
          <a:ln w="12700">
            <a:solidFill>
              <a:schemeClr val="accent1"/>
            </a:solidFill>
            <a:prstDash val="solid"/>
          </a:ln>
        </p:spPr>
      </p:sp>
      <p:pic>
        <p:nvPicPr>
          <p:cNvPr id="30" name="Docker 6 icon" descr="preencoded.png">    </p:cNvPr>
          <p:cNvPicPr>
            <a:picLocks noChangeAspect="1"/>
          </p:cNvPicPr>
          <p:nvPr/>
        </p:nvPicPr>
        <p:blipFill>
          <a:blip r:embed="rId6"/>
          <a:stretch>
            <a:fillRect/>
          </a:stretch>
        </p:blipFill>
        <p:spPr>
          <a:xfrm>
            <a:off x="6343650" y="3188970"/>
            <a:ext cx="251460" cy="251460"/>
          </a:xfrm>
          <a:prstGeom prst="rect">
            <a:avLst/>
          </a:prstGeom>
        </p:spPr>
      </p:pic>
      <p:sp>
        <p:nvSpPr>
          <p:cNvPr id="31" name="Text 23"/>
          <p:cNvSpPr txBox="1"/>
          <p:nvPr/>
        </p:nvSpPr>
        <p:spPr>
          <a:xfrm>
            <a:off x="6858000" y="3136392"/>
            <a:ext cx="1691640" cy="411480"/>
          </a:xfrm>
          <a:prstGeom prst="rect">
            <a:avLst/>
          </a:prstGeom>
          <a:noFill/>
          <a:ln/>
        </p:spPr>
        <p:txBody>
          <a:bodyPr wrap="square" lIns="0" tIns="0" rIns="0" bIns="0" rtlCol="0" anchor="ctr"/>
          <a:lstStyle/>
          <a:p>
            <a:pPr indent="0" marL="0">
              <a:buNone/>
            </a:pPr>
            <a:r>
              <a:rPr lang="en-US" sz="1500" b="1" dirty="0">
                <a:solidFill>
                  <a:schemeClr val="tx1"/>
                </a:solidFill>
              </a:rPr>
              <a:t>Health checks</a:t>
            </a:r>
            <a:endParaRPr lang="en-US" sz="1500" dirty="0"/>
          </a:p>
        </p:txBody>
      </p:sp>
      <p:sp>
        <p:nvSpPr>
          <p:cNvPr id="32" name="Text 24"/>
          <p:cNvSpPr txBox="1"/>
          <p:nvPr/>
        </p:nvSpPr>
        <p:spPr>
          <a:xfrm>
            <a:off x="6217920" y="368503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Built into each image; no curl needed, a small Node script probes /healthz</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Optimisation: naive vs optimised Dockerfile</a:t>
            </a:r>
            <a:endParaRPr lang="en-US" sz="3200" dirty="0"/>
          </a:p>
        </p:txBody>
      </p:sp>
      <p:graphicFrame>
        <p:nvGraphicFramePr>
          <p:cNvPr id="8" name="Naive vs optimised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828800"/>
                <a:gridCol w="3200400"/>
                <a:gridCol w="3200400"/>
              </a:tblGrid>
              <a:tr h="438912">
                <a:tc>
                  <a:txBody>
                    <a:bodyPr/>
                    <a:lstStyle/>
                    <a:p>
                      <a:pPr indent="0" marL="0">
                        <a:buNone/>
                      </a:pPr>
                      <a:endParaRPr lang="en-US" sz="14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Dockerfile.naive</a:t>
                      </a:r>
                      <a:endParaRPr lang="en-US" sz="14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bg1"/>
                          </a:solidFill>
                        </a:rPr>
                        <a:t>Dockerfile (optimised)</a:t>
                      </a:r>
                      <a:endParaRPr lang="en-US" sz="14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accent3"/>
                    </a:solidFill>
                  </a:tcPr>
                </a:tc>
              </a:tr>
              <a:tr h="438912">
                <a:tc>
                  <a:txBody>
                    <a:bodyPr/>
                    <a:lstStyle/>
                    <a:p>
                      <a:pPr indent="0" marL="0">
                        <a:buNone/>
                      </a:pPr>
                      <a:r>
                        <a:rPr lang="en-US" sz="1300" b="1" dirty="0">
                          <a:solidFill>
                            <a:schemeClr val="tx1"/>
                          </a:solidFill>
                        </a:rPr>
                        <a:t>Base image</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node:22 (full Debian image)</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distroless Node / node:22-alpine</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Stages</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 npm, compilers and shell ship</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Build, test, runtime</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Layer order</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COPY . . then install</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Manifests first, deps cached</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Runs as</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root</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Non-root, read-only fs</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Size / build time</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i="1" dirty="0">
                          <a:solidFill>
                            <a:schemeClr val="accent1"/>
                          </a:solidFill>
                        </a:rPr>
                        <a:t>Your measured number</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i="1" dirty="0">
                          <a:solidFill>
                            <a:schemeClr val="accent1"/>
                          </a:solidFill>
                        </a:rPr>
                        <a:t>Your measured number</a:t>
                      </a:r>
                      <a:endParaRPr lang="en-US" sz="1300" dirty="0"/>
                    </a:p>
                  </a:txBody>
                  <a:tcPr marL="91440" marR="91440" marT="54864" marB="54864"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300" i="1" dirty="0">
                <a:solidFill>
                  <a:schemeClr val="accent6"/>
                </a:solidFill>
              </a:rPr>
              <a:t>Run ./scripts/measure-images.sh and paste the size and build-time numbers from results/image-metrics.md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Private by default, data that survives</a:t>
            </a:r>
            <a:endParaRPr lang="en-US" sz="3200" dirty="0"/>
          </a:p>
        </p:txBody>
      </p:sp>
      <p:sp>
        <p:nvSpPr>
          <p:cNvPr id="3" name="Networking card"/>
          <p:cNvSpPr/>
          <p:nvPr/>
        </p:nvSpPr>
        <p:spPr>
          <a:xfrm>
            <a:off x="457200" y="1143000"/>
            <a:ext cx="3977640" cy="3383280"/>
          </a:xfrm>
          <a:prstGeom prst="roundRect">
            <a:avLst>
              <a:gd name="adj" fmla="val 2162"/>
            </a:avLst>
          </a:prstGeom>
          <a:solidFill>
            <a:schemeClr val="bg2"/>
          </a:solidFill>
          <a:ln w="12700">
            <a:solidFill>
              <a:schemeClr val="bg2"/>
            </a:solidFill>
            <a:prstDash val="solid"/>
          </a:ln>
        </p:spPr>
      </p:sp>
      <p:sp>
        <p:nvSpPr>
          <p:cNvPr id="4" name="Networking circle"/>
          <p:cNvSpPr/>
          <p:nvPr/>
        </p:nvSpPr>
        <p:spPr>
          <a:xfrm>
            <a:off x="685800" y="1325880"/>
            <a:ext cx="548640" cy="548640"/>
          </a:xfrm>
          <a:prstGeom prst="ellipse">
            <a:avLst/>
          </a:prstGeom>
          <a:solidFill>
            <a:schemeClr val="accent2"/>
          </a:solidFill>
          <a:ln w="12700">
            <a:solidFill>
              <a:schemeClr val="accent2"/>
            </a:solidFill>
            <a:prstDash val="solid"/>
          </a:ln>
        </p:spPr>
      </p:sp>
      <p:pic>
        <p:nvPicPr>
          <p:cNvPr id="5" name="Networking icon" descr="preencoded.png">    </p:cNvPr>
          <p:cNvPicPr>
            <a:picLocks noChangeAspect="1"/>
          </p:cNvPicPr>
          <p:nvPr/>
        </p:nvPicPr>
        <p:blipFill>
          <a:blip r:embed="rId1"/>
          <a:stretch>
            <a:fillRect/>
          </a:stretch>
        </p:blipFill>
        <p:spPr>
          <a:xfrm>
            <a:off x="822960" y="1463040"/>
            <a:ext cx="274320" cy="274320"/>
          </a:xfrm>
          <a:prstGeom prst="rect">
            <a:avLst/>
          </a:prstGeom>
        </p:spPr>
      </p:pic>
      <p:sp>
        <p:nvSpPr>
          <p:cNvPr id="6" name="Text 3"/>
          <p:cNvSpPr txBox="1"/>
          <p:nvPr/>
        </p:nvSpPr>
        <p:spPr>
          <a:xfrm>
            <a:off x="1371600" y="1417320"/>
            <a:ext cx="2926080" cy="365760"/>
          </a:xfrm>
          <a:prstGeom prst="rect">
            <a:avLst/>
          </a:prstGeom>
          <a:noFill/>
          <a:ln/>
        </p:spPr>
        <p:txBody>
          <a:bodyPr wrap="square" lIns="0" tIns="0" rIns="0" bIns="0" rtlCol="0" anchor="t"/>
          <a:lstStyle/>
          <a:p>
            <a:pPr indent="0" marL="0">
              <a:buNone/>
            </a:pPr>
            <a:r>
              <a:rPr lang="en-US" sz="1800" b="1" dirty="0">
                <a:solidFill>
                  <a:schemeClr val="tx1"/>
                </a:solidFill>
              </a:rPr>
              <a:t>Networking</a:t>
            </a:r>
            <a:endParaRPr lang="en-US" sz="1800" dirty="0"/>
          </a:p>
        </p:txBody>
      </p:sp>
      <p:sp>
        <p:nvSpPr>
          <p:cNvPr id="7" name="Text 4"/>
          <p:cNvSpPr txBox="1"/>
          <p:nvPr/>
        </p:nvSpPr>
        <p:spPr>
          <a:xfrm>
            <a:off x="685800" y="205740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Only ports 8081 and 8082 are published</a:t>
            </a:r>
            <a:endParaRPr lang="en-US" sz="1400" dirty="0"/>
          </a:p>
          <a:p>
            <a:pPr marL="342900" indent="-342900">
              <a:spcAft>
                <a:spcPts val="800"/>
              </a:spcAft>
              <a:buSzPct val="100000"/>
              <a:buChar char="•"/>
            </a:pPr>
            <a:r>
              <a:rPr lang="en-US" sz="1400" dirty="0">
                <a:solidFill>
                  <a:schemeClr val="tx1"/>
                </a:solidFill>
              </a:rPr>
              <a:t>backend network is internal: true</a:t>
            </a:r>
            <a:endParaRPr lang="en-US" sz="1400" dirty="0"/>
          </a:p>
          <a:p>
            <a:pPr marL="342900" indent="-342900">
              <a:spcAft>
                <a:spcPts val="800"/>
              </a:spcAft>
              <a:buSzPct val="100000"/>
              <a:buChar char="•"/>
            </a:pPr>
            <a:r>
              <a:rPr lang="en-US" sz="1400" dirty="0">
                <a:solidFill>
                  <a:schemeClr val="tx1"/>
                </a:solidFill>
              </a:rPr>
              <a:t>File service also requires an internal token</a:t>
            </a:r>
            <a:endParaRPr lang="en-US" sz="1400" dirty="0"/>
          </a:p>
          <a:p>
            <a:pPr marL="342900" indent="-342900">
              <a:spcAft>
                <a:spcPts val="800"/>
              </a:spcAft>
              <a:buSzPct val="100000"/>
              <a:buChar char="•"/>
            </a:pPr>
            <a:r>
              <a:rPr lang="en-US" sz="1400" dirty="0">
                <a:solidFill>
                  <a:schemeClr val="tx1"/>
                </a:solidFill>
              </a:rPr>
              <a:t>e2e test proves 3306, 8000, 8080 refuse from the host</a:t>
            </a:r>
            <a:endParaRPr lang="en-US" sz="1400" dirty="0"/>
          </a:p>
        </p:txBody>
      </p:sp>
      <p:sp>
        <p:nvSpPr>
          <p:cNvPr id="8" name="Persistence card"/>
          <p:cNvSpPr/>
          <p:nvPr/>
        </p:nvSpPr>
        <p:spPr>
          <a:xfrm>
            <a:off x="4709160" y="1143000"/>
            <a:ext cx="3977640" cy="3383280"/>
          </a:xfrm>
          <a:prstGeom prst="roundRect">
            <a:avLst>
              <a:gd name="adj" fmla="val 2162"/>
            </a:avLst>
          </a:prstGeom>
          <a:solidFill>
            <a:schemeClr val="bg2"/>
          </a:solidFill>
          <a:ln w="12700">
            <a:solidFill>
              <a:schemeClr val="bg2"/>
            </a:solidFill>
            <a:prstDash val="solid"/>
          </a:ln>
        </p:spPr>
      </p:sp>
      <p:sp>
        <p:nvSpPr>
          <p:cNvPr id="9" name="Persistence circle"/>
          <p:cNvSpPr/>
          <p:nvPr/>
        </p:nvSpPr>
        <p:spPr>
          <a:xfrm>
            <a:off x="4937760" y="1325880"/>
            <a:ext cx="548640" cy="548640"/>
          </a:xfrm>
          <a:prstGeom prst="ellipse">
            <a:avLst/>
          </a:prstGeom>
          <a:solidFill>
            <a:schemeClr val="accent3"/>
          </a:solidFill>
          <a:ln w="12700">
            <a:solidFill>
              <a:schemeClr val="accent3"/>
            </a:solidFill>
            <a:prstDash val="solid"/>
          </a:ln>
        </p:spPr>
      </p:sp>
      <p:pic>
        <p:nvPicPr>
          <p:cNvPr id="10" name="Persistence icon" descr="preencoded.png">    </p:cNvPr>
          <p:cNvPicPr>
            <a:picLocks noChangeAspect="1"/>
          </p:cNvPicPr>
          <p:nvPr/>
        </p:nvPicPr>
        <p:blipFill>
          <a:blip r:embed="rId2"/>
          <a:stretch>
            <a:fillRect/>
          </a:stretch>
        </p:blipFill>
        <p:spPr>
          <a:xfrm>
            <a:off x="5074920" y="1463040"/>
            <a:ext cx="274320" cy="274320"/>
          </a:xfrm>
          <a:prstGeom prst="rect">
            <a:avLst/>
          </a:prstGeom>
        </p:spPr>
      </p:pic>
      <p:sp>
        <p:nvSpPr>
          <p:cNvPr id="11" name="Text 7"/>
          <p:cNvSpPr txBox="1"/>
          <p:nvPr/>
        </p:nvSpPr>
        <p:spPr>
          <a:xfrm>
            <a:off x="5623560" y="1417320"/>
            <a:ext cx="2926080" cy="365760"/>
          </a:xfrm>
          <a:prstGeom prst="rect">
            <a:avLst/>
          </a:prstGeom>
          <a:noFill/>
          <a:ln/>
        </p:spPr>
        <p:txBody>
          <a:bodyPr wrap="square" lIns="0" tIns="0" rIns="0" bIns="0" rtlCol="0" anchor="t"/>
          <a:lstStyle/>
          <a:p>
            <a:pPr indent="0" marL="0">
              <a:buNone/>
            </a:pPr>
            <a:r>
              <a:rPr lang="en-US" sz="1800" b="1" dirty="0">
                <a:solidFill>
                  <a:schemeClr val="tx1"/>
                </a:solidFill>
              </a:rPr>
              <a:t>Persistence</a:t>
            </a:r>
            <a:endParaRPr lang="en-US" sz="1800" dirty="0"/>
          </a:p>
        </p:txBody>
      </p:sp>
      <p:sp>
        <p:nvSpPr>
          <p:cNvPr id="12" name="Text 8"/>
          <p:cNvSpPr txBox="1"/>
          <p:nvPr/>
        </p:nvSpPr>
        <p:spPr>
          <a:xfrm>
            <a:off x="4937760" y="205740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mysql-data volume: users and metadata</a:t>
            </a:r>
            <a:endParaRPr lang="en-US" sz="1400" dirty="0"/>
          </a:p>
          <a:p>
            <a:pPr marL="342900" indent="-342900">
              <a:spcAft>
                <a:spcPts val="800"/>
              </a:spcAft>
              <a:buSzPct val="100000"/>
              <a:buChar char="•"/>
            </a:pPr>
            <a:r>
              <a:rPr lang="en-US" sz="1400" dirty="0">
                <a:solidFill>
                  <a:schemeClr val="tx1"/>
                </a:solidFill>
              </a:rPr>
              <a:t>video-data volume: the video files</a:t>
            </a:r>
            <a:endParaRPr lang="en-US" sz="1400" dirty="0"/>
          </a:p>
          <a:p>
            <a:pPr marL="342900" indent="-342900">
              <a:spcAft>
                <a:spcPts val="800"/>
              </a:spcAft>
              <a:buSzPct val="100000"/>
              <a:buChar char="•"/>
            </a:pPr>
            <a:r>
              <a:rPr lang="en-US" sz="1400" dirty="0">
                <a:solidFill>
                  <a:schemeClr val="tx1"/>
                </a:solidFill>
              </a:rPr>
              <a:t>Test: delete and recreate mysql + file-service containers</a:t>
            </a:r>
            <a:endParaRPr lang="en-US" sz="1400" dirty="0"/>
          </a:p>
          <a:p>
            <a:pPr marL="342900" indent="-342900">
              <a:spcAft>
                <a:spcPts val="800"/>
              </a:spcAft>
              <a:buSzPct val="100000"/>
              <a:buChar char="•"/>
            </a:pPr>
            <a:r>
              <a:rPr lang="en-US" sz="1400" dirty="0">
                <a:solidFill>
                  <a:schemeClr val="tx1"/>
                </a:solidFill>
              </a:rPr>
              <a:t>Login works, metadata listed, same sha256</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Security in layers</a:t>
            </a:r>
            <a:endParaRPr lang="en-US" sz="3200" dirty="0"/>
          </a:p>
        </p:txBody>
      </p:sp>
      <p:sp>
        <p:nvSpPr>
          <p:cNvPr id="3" name="Security card 1"/>
          <p:cNvSpPr/>
          <p:nvPr/>
        </p:nvSpPr>
        <p:spPr>
          <a:xfrm>
            <a:off x="457200" y="1188720"/>
            <a:ext cx="2606040" cy="1508760"/>
          </a:xfrm>
          <a:prstGeom prst="roundRect">
            <a:avLst>
              <a:gd name="adj" fmla="val 4848"/>
            </a:avLst>
          </a:prstGeom>
          <a:solidFill>
            <a:schemeClr val="bg2"/>
          </a:solidFill>
          <a:ln w="12700">
            <a:solidFill>
              <a:schemeClr val="bg2"/>
            </a:solidFill>
            <a:prstDash val="solid"/>
          </a:ln>
        </p:spPr>
      </p:sp>
      <p:sp>
        <p:nvSpPr>
          <p:cNvPr id="4" name="Security 1 circle"/>
          <p:cNvSpPr/>
          <p:nvPr/>
        </p:nvSpPr>
        <p:spPr>
          <a:xfrm>
            <a:off x="640080" y="1371600"/>
            <a:ext cx="502920" cy="502920"/>
          </a:xfrm>
          <a:prstGeom prst="ellipse">
            <a:avLst/>
          </a:prstGeom>
          <a:solidFill>
            <a:schemeClr val="accent2"/>
          </a:solidFill>
          <a:ln w="12700">
            <a:solidFill>
              <a:schemeClr val="accent2"/>
            </a:solidFill>
            <a:prstDash val="solid"/>
          </a:ln>
        </p:spPr>
      </p:sp>
      <p:pic>
        <p:nvPicPr>
          <p:cNvPr id="5" name="Security 1 icon"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6" name="Text 3"/>
          <p:cNvSpPr txBox="1"/>
          <p:nvPr/>
        </p:nvSpPr>
        <p:spPr>
          <a:xfrm>
            <a:off x="1280160" y="1408176"/>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No hard-coded secrets</a:t>
            </a:r>
            <a:endParaRPr lang="en-US" sz="1500" dirty="0"/>
          </a:p>
        </p:txBody>
      </p:sp>
      <p:sp>
        <p:nvSpPr>
          <p:cNvPr id="7" name="Text 4"/>
          <p:cNvSpPr txBox="1"/>
          <p:nvPr/>
        </p:nvSpPr>
        <p:spPr>
          <a:xfrm>
            <a:off x="640080" y="199339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Random secrets generated locally, mounted as Docker secrets, git-ignored</a:t>
            </a:r>
            <a:endParaRPr lang="en-US" sz="1200" dirty="0"/>
          </a:p>
        </p:txBody>
      </p:sp>
      <p:sp>
        <p:nvSpPr>
          <p:cNvPr id="8" name="Security card 2"/>
          <p:cNvSpPr/>
          <p:nvPr/>
        </p:nvSpPr>
        <p:spPr>
          <a:xfrm>
            <a:off x="3246120" y="1188720"/>
            <a:ext cx="2606040" cy="1508760"/>
          </a:xfrm>
          <a:prstGeom prst="roundRect">
            <a:avLst>
              <a:gd name="adj" fmla="val 4848"/>
            </a:avLst>
          </a:prstGeom>
          <a:solidFill>
            <a:schemeClr val="bg2"/>
          </a:solidFill>
          <a:ln w="12700">
            <a:solidFill>
              <a:schemeClr val="bg2"/>
            </a:solidFill>
            <a:prstDash val="solid"/>
          </a:ln>
        </p:spPr>
      </p:sp>
      <p:sp>
        <p:nvSpPr>
          <p:cNvPr id="9" name="Security 2 circle"/>
          <p:cNvSpPr/>
          <p:nvPr/>
        </p:nvSpPr>
        <p:spPr>
          <a:xfrm>
            <a:off x="3429000" y="1371600"/>
            <a:ext cx="502920" cy="502920"/>
          </a:xfrm>
          <a:prstGeom prst="ellipse">
            <a:avLst/>
          </a:prstGeom>
          <a:solidFill>
            <a:schemeClr val="accent2"/>
          </a:solidFill>
          <a:ln w="12700">
            <a:solidFill>
              <a:schemeClr val="accent2"/>
            </a:solidFill>
            <a:prstDash val="solid"/>
          </a:ln>
        </p:spPr>
      </p:sp>
      <p:pic>
        <p:nvPicPr>
          <p:cNvPr id="10" name="Security 2 icon" descr="preencoded.png">    </p:cNvPr>
          <p:cNvPicPr>
            <a:picLocks noChangeAspect="1"/>
          </p:cNvPicPr>
          <p:nvPr/>
        </p:nvPicPr>
        <p:blipFill>
          <a:blip r:embed="rId2"/>
          <a:stretch>
            <a:fillRect/>
          </a:stretch>
        </p:blipFill>
        <p:spPr>
          <a:xfrm>
            <a:off x="3557016" y="1499616"/>
            <a:ext cx="246888" cy="246888"/>
          </a:xfrm>
          <a:prstGeom prst="rect">
            <a:avLst/>
          </a:prstGeom>
        </p:spPr>
      </p:pic>
      <p:sp>
        <p:nvSpPr>
          <p:cNvPr id="11" name="Text 7"/>
          <p:cNvSpPr txBox="1"/>
          <p:nvPr/>
        </p:nvSpPr>
        <p:spPr>
          <a:xfrm>
            <a:off x="4069080" y="1408176"/>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Least-privilege DB</a:t>
            </a:r>
            <a:endParaRPr lang="en-US" sz="1500" dirty="0"/>
          </a:p>
        </p:txBody>
      </p:sp>
      <p:sp>
        <p:nvSpPr>
          <p:cNvPr id="12" name="Text 8"/>
          <p:cNvSpPr txBox="1"/>
          <p:nvPr/>
        </p:nvSpPr>
        <p:spPr>
          <a:xfrm>
            <a:off x="3429000" y="199339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One MySQL account per service; streaming is SELECT-only</a:t>
            </a:r>
            <a:endParaRPr lang="en-US" sz="1200" dirty="0"/>
          </a:p>
        </p:txBody>
      </p:sp>
      <p:sp>
        <p:nvSpPr>
          <p:cNvPr id="13" name="Security card 3"/>
          <p:cNvSpPr/>
          <p:nvPr/>
        </p:nvSpPr>
        <p:spPr>
          <a:xfrm>
            <a:off x="6035040" y="1188720"/>
            <a:ext cx="2606040" cy="1508760"/>
          </a:xfrm>
          <a:prstGeom prst="roundRect">
            <a:avLst>
              <a:gd name="adj" fmla="val 4848"/>
            </a:avLst>
          </a:prstGeom>
          <a:solidFill>
            <a:schemeClr val="bg2"/>
          </a:solidFill>
          <a:ln w="12700">
            <a:solidFill>
              <a:schemeClr val="bg2"/>
            </a:solidFill>
            <a:prstDash val="solid"/>
          </a:ln>
        </p:spPr>
      </p:sp>
      <p:sp>
        <p:nvSpPr>
          <p:cNvPr id="14" name="Security 3 circle"/>
          <p:cNvSpPr/>
          <p:nvPr/>
        </p:nvSpPr>
        <p:spPr>
          <a:xfrm>
            <a:off x="6217920" y="1371600"/>
            <a:ext cx="502920" cy="502920"/>
          </a:xfrm>
          <a:prstGeom prst="ellipse">
            <a:avLst/>
          </a:prstGeom>
          <a:solidFill>
            <a:schemeClr val="accent2"/>
          </a:solidFill>
          <a:ln w="12700">
            <a:solidFill>
              <a:schemeClr val="accent2"/>
            </a:solidFill>
            <a:prstDash val="solid"/>
          </a:ln>
        </p:spPr>
      </p:sp>
      <p:pic>
        <p:nvPicPr>
          <p:cNvPr id="15" name="Security 3 icon" descr="preencoded.png">    </p:cNvPr>
          <p:cNvPicPr>
            <a:picLocks noChangeAspect="1"/>
          </p:cNvPicPr>
          <p:nvPr/>
        </p:nvPicPr>
        <p:blipFill>
          <a:blip r:embed="rId3"/>
          <a:stretch>
            <a:fillRect/>
          </a:stretch>
        </p:blipFill>
        <p:spPr>
          <a:xfrm>
            <a:off x="6343650" y="1497330"/>
            <a:ext cx="251460" cy="251460"/>
          </a:xfrm>
          <a:prstGeom prst="rect">
            <a:avLst/>
          </a:prstGeom>
        </p:spPr>
      </p:pic>
      <p:sp>
        <p:nvSpPr>
          <p:cNvPr id="16" name="Text 11"/>
          <p:cNvSpPr txBox="1"/>
          <p:nvPr/>
        </p:nvSpPr>
        <p:spPr>
          <a:xfrm>
            <a:off x="6858000" y="1408176"/>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Roles enforced server-side</a:t>
            </a:r>
            <a:endParaRPr lang="en-US" sz="1500" dirty="0"/>
          </a:p>
        </p:txBody>
      </p:sp>
      <p:sp>
        <p:nvSpPr>
          <p:cNvPr id="17" name="Text 12"/>
          <p:cNvSpPr txBox="1"/>
          <p:nvPr/>
        </p:nvSpPr>
        <p:spPr>
          <a:xfrm>
            <a:off x="6217920" y="199339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viewer, uploader, admin; 401 vs 403 tested</a:t>
            </a:r>
            <a:endParaRPr lang="en-US" sz="1200" dirty="0"/>
          </a:p>
        </p:txBody>
      </p:sp>
      <p:sp>
        <p:nvSpPr>
          <p:cNvPr id="18" name="Security card 4"/>
          <p:cNvSpPr/>
          <p:nvPr/>
        </p:nvSpPr>
        <p:spPr>
          <a:xfrm>
            <a:off x="457200" y="2880360"/>
            <a:ext cx="2606040" cy="1508760"/>
          </a:xfrm>
          <a:prstGeom prst="roundRect">
            <a:avLst>
              <a:gd name="adj" fmla="val 4848"/>
            </a:avLst>
          </a:prstGeom>
          <a:solidFill>
            <a:schemeClr val="bg2"/>
          </a:solidFill>
          <a:ln w="12700">
            <a:solidFill>
              <a:schemeClr val="bg2"/>
            </a:solidFill>
            <a:prstDash val="solid"/>
          </a:ln>
        </p:spPr>
      </p:sp>
      <p:sp>
        <p:nvSpPr>
          <p:cNvPr id="19" name="Security 4 circle"/>
          <p:cNvSpPr/>
          <p:nvPr/>
        </p:nvSpPr>
        <p:spPr>
          <a:xfrm>
            <a:off x="640080" y="3063240"/>
            <a:ext cx="502920" cy="502920"/>
          </a:xfrm>
          <a:prstGeom prst="ellipse">
            <a:avLst/>
          </a:prstGeom>
          <a:solidFill>
            <a:schemeClr val="accent2"/>
          </a:solidFill>
          <a:ln w="12700">
            <a:solidFill>
              <a:schemeClr val="accent2"/>
            </a:solidFill>
            <a:prstDash val="solid"/>
          </a:ln>
        </p:spPr>
      </p:sp>
      <p:pic>
        <p:nvPicPr>
          <p:cNvPr id="20" name="Security 4 icon" descr="preencoded.png">    </p:cNvPr>
          <p:cNvPicPr>
            <a:picLocks noChangeAspect="1"/>
          </p:cNvPicPr>
          <p:nvPr/>
        </p:nvPicPr>
        <p:blipFill>
          <a:blip r:embed="rId4"/>
          <a:stretch>
            <a:fillRect/>
          </a:stretch>
        </p:blipFill>
        <p:spPr>
          <a:xfrm>
            <a:off x="765810" y="3188970"/>
            <a:ext cx="251460" cy="251460"/>
          </a:xfrm>
          <a:prstGeom prst="rect">
            <a:avLst/>
          </a:prstGeom>
        </p:spPr>
      </p:pic>
      <p:sp>
        <p:nvSpPr>
          <p:cNvPr id="21" name="Text 15"/>
          <p:cNvSpPr txBox="1"/>
          <p:nvPr/>
        </p:nvSpPr>
        <p:spPr>
          <a:xfrm>
            <a:off x="1280160" y="3099816"/>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Sessions</a:t>
            </a:r>
            <a:endParaRPr lang="en-US" sz="1500" dirty="0"/>
          </a:p>
        </p:txBody>
      </p:sp>
      <p:sp>
        <p:nvSpPr>
          <p:cNvPr id="22" name="Text 16"/>
          <p:cNvSpPr txBox="1"/>
          <p:nvPr/>
        </p:nvSpPr>
        <p:spPr>
          <a:xfrm>
            <a:off x="640080" y="368503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HttpOnly SameSite=Strict cookie, scrypt hashes, lockout after 5 failures</a:t>
            </a:r>
            <a:endParaRPr lang="en-US" sz="1200" dirty="0"/>
          </a:p>
        </p:txBody>
      </p:sp>
      <p:sp>
        <p:nvSpPr>
          <p:cNvPr id="23" name="Security card 5"/>
          <p:cNvSpPr/>
          <p:nvPr/>
        </p:nvSpPr>
        <p:spPr>
          <a:xfrm>
            <a:off x="3246120" y="2880360"/>
            <a:ext cx="2606040" cy="1508760"/>
          </a:xfrm>
          <a:prstGeom prst="roundRect">
            <a:avLst>
              <a:gd name="adj" fmla="val 4848"/>
            </a:avLst>
          </a:prstGeom>
          <a:solidFill>
            <a:schemeClr val="bg2"/>
          </a:solidFill>
          <a:ln w="12700">
            <a:solidFill>
              <a:schemeClr val="bg2"/>
            </a:solidFill>
            <a:prstDash val="solid"/>
          </a:ln>
        </p:spPr>
      </p:sp>
      <p:sp>
        <p:nvSpPr>
          <p:cNvPr id="24" name="Security 5 circle"/>
          <p:cNvSpPr/>
          <p:nvPr/>
        </p:nvSpPr>
        <p:spPr>
          <a:xfrm>
            <a:off x="3429000" y="3063240"/>
            <a:ext cx="502920" cy="502920"/>
          </a:xfrm>
          <a:prstGeom prst="ellipse">
            <a:avLst/>
          </a:prstGeom>
          <a:solidFill>
            <a:schemeClr val="accent2"/>
          </a:solidFill>
          <a:ln w="12700">
            <a:solidFill>
              <a:schemeClr val="accent2"/>
            </a:solidFill>
            <a:prstDash val="solid"/>
          </a:ln>
        </p:spPr>
      </p:sp>
      <p:pic>
        <p:nvPicPr>
          <p:cNvPr id="25" name="Security 5 icon" descr="preencoded.png">    </p:cNvPr>
          <p:cNvPicPr>
            <a:picLocks noChangeAspect="1"/>
          </p:cNvPicPr>
          <p:nvPr/>
        </p:nvPicPr>
        <p:blipFill>
          <a:blip r:embed="rId5"/>
          <a:stretch>
            <a:fillRect/>
          </a:stretch>
        </p:blipFill>
        <p:spPr>
          <a:xfrm>
            <a:off x="3554730" y="3188970"/>
            <a:ext cx="251460" cy="251460"/>
          </a:xfrm>
          <a:prstGeom prst="rect">
            <a:avLst/>
          </a:prstGeom>
        </p:spPr>
      </p:pic>
      <p:sp>
        <p:nvSpPr>
          <p:cNvPr id="26" name="Text 19"/>
          <p:cNvSpPr txBox="1"/>
          <p:nvPr/>
        </p:nvSpPr>
        <p:spPr>
          <a:xfrm>
            <a:off x="4069080" y="3099816"/>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Input validation</a:t>
            </a:r>
            <a:endParaRPr lang="en-US" sz="1500" dirty="0"/>
          </a:p>
        </p:txBody>
      </p:sp>
      <p:sp>
        <p:nvSpPr>
          <p:cNvPr id="27" name="Text 20"/>
          <p:cNvSpPr txBox="1"/>
          <p:nvPr/>
        </p:nvSpPr>
        <p:spPr>
          <a:xfrm>
            <a:off x="3429000" y="368503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Type allow-list, magic bytes, size caps, UUID ids, parameterised SQL</a:t>
            </a:r>
            <a:endParaRPr lang="en-US" sz="1200" dirty="0"/>
          </a:p>
        </p:txBody>
      </p:sp>
      <p:sp>
        <p:nvSpPr>
          <p:cNvPr id="28" name="Security card 6"/>
          <p:cNvSpPr/>
          <p:nvPr/>
        </p:nvSpPr>
        <p:spPr>
          <a:xfrm>
            <a:off x="6035040" y="2880360"/>
            <a:ext cx="2606040" cy="1508760"/>
          </a:xfrm>
          <a:prstGeom prst="roundRect">
            <a:avLst>
              <a:gd name="adj" fmla="val 4848"/>
            </a:avLst>
          </a:prstGeom>
          <a:solidFill>
            <a:schemeClr val="bg2"/>
          </a:solidFill>
          <a:ln w="12700">
            <a:solidFill>
              <a:schemeClr val="bg2"/>
            </a:solidFill>
            <a:prstDash val="solid"/>
          </a:ln>
        </p:spPr>
      </p:sp>
      <p:sp>
        <p:nvSpPr>
          <p:cNvPr id="29" name="Security 6 circle"/>
          <p:cNvSpPr/>
          <p:nvPr/>
        </p:nvSpPr>
        <p:spPr>
          <a:xfrm>
            <a:off x="6217920" y="3063240"/>
            <a:ext cx="502920" cy="502920"/>
          </a:xfrm>
          <a:prstGeom prst="ellipse">
            <a:avLst/>
          </a:prstGeom>
          <a:solidFill>
            <a:schemeClr val="accent2"/>
          </a:solidFill>
          <a:ln w="12700">
            <a:solidFill>
              <a:schemeClr val="accent2"/>
            </a:solidFill>
            <a:prstDash val="solid"/>
          </a:ln>
        </p:spPr>
      </p:sp>
      <p:pic>
        <p:nvPicPr>
          <p:cNvPr id="30" name="Security 6 icon" descr="preencoded.png">    </p:cNvPr>
          <p:cNvPicPr>
            <a:picLocks noChangeAspect="1"/>
          </p:cNvPicPr>
          <p:nvPr/>
        </p:nvPicPr>
        <p:blipFill>
          <a:blip r:embed="rId6"/>
          <a:stretch>
            <a:fillRect/>
          </a:stretch>
        </p:blipFill>
        <p:spPr>
          <a:xfrm>
            <a:off x="6343650" y="3188970"/>
            <a:ext cx="251460" cy="251460"/>
          </a:xfrm>
          <a:prstGeom prst="rect">
            <a:avLst/>
          </a:prstGeom>
        </p:spPr>
      </p:pic>
      <p:sp>
        <p:nvSpPr>
          <p:cNvPr id="31" name="Text 23"/>
          <p:cNvSpPr txBox="1"/>
          <p:nvPr/>
        </p:nvSpPr>
        <p:spPr>
          <a:xfrm>
            <a:off x="6858000" y="3099816"/>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Scanned images</a:t>
            </a:r>
            <a:endParaRPr lang="en-US" sz="1500" dirty="0"/>
          </a:p>
        </p:txBody>
      </p:sp>
      <p:sp>
        <p:nvSpPr>
          <p:cNvPr id="32" name="Text 24"/>
          <p:cNvSpPr txBox="1"/>
          <p:nvPr/>
        </p:nvSpPr>
        <p:spPr>
          <a:xfrm>
            <a:off x="6217920" y="3685032"/>
            <a:ext cx="2286000" cy="658368"/>
          </a:xfrm>
          <a:prstGeom prst="rect">
            <a:avLst/>
          </a:prstGeom>
          <a:noFill/>
          <a:ln/>
        </p:spPr>
        <p:txBody>
          <a:bodyPr wrap="square" lIns="0" tIns="0" rIns="0" bIns="0" rtlCol="0" anchor="t"/>
          <a:lstStyle/>
          <a:p>
            <a:pPr indent="0" marL="0">
              <a:buNone/>
            </a:pPr>
            <a:r>
              <a:rPr lang="en-US" sz="1200" dirty="0">
                <a:solidFill>
                  <a:schemeClr val="accent6"/>
                </a:solidFill>
              </a:rPr>
              <a:t>Trivy in CI; fixable CRITICAL findings fail the build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Failure tests: degrade, then recover</a:t>
            </a:r>
            <a:endParaRPr lang="en-US" sz="3200" dirty="0"/>
          </a:p>
        </p:txBody>
      </p:sp>
      <p:graphicFrame>
        <p:nvGraphicFramePr>
          <p:cNvPr id="11" name="Failure result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920240"/>
                <a:gridCol w="1051560"/>
                <a:gridCol w="914400"/>
                <a:gridCol w="822960"/>
                <a:gridCol w="3520440"/>
              </a:tblGrid>
              <a:tr h="411480">
                <a:tc>
                  <a:txBody>
                    <a:bodyPr/>
                    <a:lstStyle/>
                    <a:p>
                      <a:pPr indent="0" marL="0">
                        <a:buNone/>
                      </a:pPr>
                      <a:r>
                        <a:rPr lang="en-US" sz="1300" b="1" dirty="0">
                          <a:solidFill>
                            <a:schemeClr val="bg1"/>
                          </a:solidFill>
                        </a:rPr>
                        <a:t>Situation</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Catalogue</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Stream</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Login</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Recovery</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r>
              <a:tr h="411480">
                <a:tc>
                  <a:txBody>
                    <a:bodyPr/>
                    <a:lstStyle/>
                    <a:p>
                      <a:pPr indent="0" marL="0">
                        <a:buNone/>
                      </a:pPr>
                      <a:r>
                        <a:rPr lang="en-US" sz="1300" dirty="0">
                          <a:solidFill>
                            <a:schemeClr val="tx1"/>
                          </a:solidFill>
                        </a:rPr>
                        <a:t>All up</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200</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206</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401*</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r>
              <a:tr h="411480">
                <a:tc>
                  <a:txBody>
                    <a:bodyPr/>
                    <a:lstStyle/>
                    <a:p>
                      <a:pPr indent="0" marL="0">
                        <a:buNone/>
                      </a:pPr>
                      <a:r>
                        <a:rPr lang="en-US" sz="1300" dirty="0">
                          <a:solidFill>
                            <a:schemeClr val="tx1"/>
                          </a:solidFill>
                        </a:rPr>
                        <a:t>Auth down</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200</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206</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503</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Signed-in users keep working (30 s cache)</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Auth + files down</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200</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503</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503</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Catalogue still served</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r>
              <a:tr h="411480">
                <a:tc>
                  <a:txBody>
                    <a:bodyPr/>
                    <a:lstStyle/>
                    <a:p>
                      <a:pPr indent="0" marL="0">
                        <a:buNone/>
                      </a:pPr>
                      <a:r>
                        <a:rPr lang="en-US" sz="1300" dirty="0">
                          <a:solidFill>
                            <a:schemeClr val="tx1"/>
                          </a:solidFill>
                        </a:rPr>
                        <a:t>Files restarted</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200</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206</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503</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Streaming back in 1 s, no app restart</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MySQL stopped (Docker)</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503</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503</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Pools reconnect when MySQL returns</a:t>
                      </a:r>
                      <a:endParaRPr lang="en-US" sz="1300" dirty="0"/>
                    </a:p>
                  </a:txBody>
                  <a:tcPr marL="73152" marR="73152" marT="45720" marB="45720"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457200" y="3840480"/>
            <a:ext cx="8229600" cy="457200"/>
          </a:xfrm>
          <a:prstGeom prst="rect">
            <a:avLst/>
          </a:prstGeom>
          <a:noFill/>
          <a:ln/>
        </p:spPr>
        <p:txBody>
          <a:bodyPr wrap="square" lIns="0" tIns="0" rIns="0" bIns="0" rtlCol="0" anchor="t"/>
          <a:lstStyle/>
          <a:p>
            <a:pPr indent="0" marL="0">
              <a:buNone/>
            </a:pPr>
            <a:r>
              <a:rPr lang="en-US" sz="1100" i="1" dirty="0">
                <a:solidFill>
                  <a:schemeClr val="accent5"/>
                </a:solidFill>
              </a:rPr>
              <a:t>* 401 = wrong password correctly rejected, so auth is healthy. Measured on native processes; ./scripts/failure-test.sh reruns it in Docker and times recovery.</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Resource limits and logs</a:t>
            </a:r>
            <a:endParaRPr lang="en-US" sz="3200" dirty="0"/>
          </a:p>
        </p:txBody>
      </p:sp>
      <p:graphicFrame>
        <p:nvGraphicFramePr>
          <p:cNvPr id="12" name="Resource limits table"/>
          <p:cNvGraphicFramePr>
            <a:graphicFrameLocks noGrp="1"/>
          </p:cNvGraphicFramePr>
          <p:nvPr>
            <p:extLst>
              <p:ext uri="{D42A27DB-BD31-4B8C-83A1-F6EECF244321}">
                <p14:modId xmlns:p14="http://schemas.microsoft.com/office/powerpoint/2010/main" val="1579011935"/>
              </p:ext>
            </p:extLst>
          </p:nvPr>
        </p:nvGraphicFramePr>
        <p:xfrm>
          <a:off x="457200" y="1097280"/>
          <a:ext cx="4754880" cy="914400"/>
        </p:xfrm>
        <a:graphic>
          <a:graphicData uri="http://schemas.openxmlformats.org/drawingml/2006/table">
            <a:tbl>
              <a:tblPr/>
              <a:tblGrid>
                <a:gridCol w="1234440"/>
                <a:gridCol w="548640"/>
                <a:gridCol w="822960"/>
                <a:gridCol w="2148840"/>
              </a:tblGrid>
              <a:tr h="384048">
                <a:tc>
                  <a:txBody>
                    <a:bodyPr/>
                    <a:lstStyle/>
                    <a:p>
                      <a:pPr indent="0" marL="0">
                        <a:buNone/>
                      </a:pPr>
                      <a:r>
                        <a:rPr lang="en-US" sz="1200" b="1" dirty="0">
                          <a:solidFill>
                            <a:schemeClr val="bg1"/>
                          </a:solidFill>
                        </a:rPr>
                        <a:t>Service</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CPU</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Memory</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mysql</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1.0</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768 MB</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256 MB buffer pool</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1"/>
                          </a:solidFill>
                        </a:rPr>
                        <a:t>auth-service</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256 MB</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scrypt is CPU-bound; ≤61 MB/worker</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file-service</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1.0</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192 MB</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≤120 MB measured peak</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1"/>
                          </a:solidFill>
                        </a:rPr>
                        <a:t>upload-web</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0.5</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192 MB</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Uploads streamed</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streaming-web</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1.0</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256 MB</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Busiest service</a:t>
                      </a:r>
                      <a:endParaRPr lang="en-US" sz="1200" dirty="0"/>
                    </a:p>
                  </a:txBody>
                  <a:tcPr marL="73152" marR="73152" marT="36576" marB="36576" anchor="ctr">
                    <a:lnL w="6350" cap="flat" cmpd="sng" algn="ctr">
                      <a:solidFill>
                        <a:srgbClr val="E1E2E6"/>
                      </a:solidFill>
                      <a:prstDash val="solid"/>
                      <a:round/>
                      <a:headEnd type="none" w="med" len="med"/>
                      <a:tailEnd type="none" w="med" len="med"/>
                    </a:lnL>
                    <a:lnR w="6350" cap="flat" cmpd="sng" algn="ctr">
                      <a:solidFill>
                        <a:srgbClr val="E1E2E6"/>
                      </a:solidFill>
                      <a:prstDash val="solid"/>
                      <a:round/>
                      <a:headEnd type="none" w="med" len="med"/>
                      <a:tailEnd type="none" w="med" len="med"/>
                    </a:lnR>
                    <a:lnT w="6350" cap="flat" cmpd="sng" algn="ctr">
                      <a:solidFill>
                        <a:srgbClr val="E1E2E6"/>
                      </a:solidFill>
                      <a:prstDash val="solid"/>
                      <a:round/>
                      <a:headEnd type="none" w="med" len="med"/>
                      <a:tailEnd type="none" w="med" len="med"/>
                    </a:lnT>
                    <a:lnB w="6350" cap="flat" cmpd="sng" algn="ctr">
                      <a:solidFill>
                        <a:srgbClr val="E1E2E6"/>
                      </a:solidFill>
                      <a:prstDash val="solid"/>
                      <a:round/>
                      <a:headEnd type="none" w="med" len="med"/>
                      <a:tailEnd type="none" w="med" len="med"/>
                    </a:lnB>
                    <a:solidFill>
                      <a:schemeClr val="bg2"/>
                    </a:solidFill>
                  </a:tcPr>
                </a:tc>
              </a:tr>
            </a:tbl>
          </a:graphicData>
        </a:graphic>
      </p:graphicFrame>
      <p:sp>
        <p:nvSpPr>
          <p:cNvPr id="4" name="Logs card"/>
          <p:cNvSpPr/>
          <p:nvPr/>
        </p:nvSpPr>
        <p:spPr>
          <a:xfrm>
            <a:off x="5486400" y="1097280"/>
            <a:ext cx="3200400" cy="2788920"/>
          </a:xfrm>
          <a:prstGeom prst="roundRect">
            <a:avLst>
              <a:gd name="adj" fmla="val 2623"/>
            </a:avLst>
          </a:prstGeom>
          <a:solidFill>
            <a:schemeClr val="tx2"/>
          </a:solidFill>
          <a:ln w="12700">
            <a:solidFill>
              <a:schemeClr val="tx2"/>
            </a:solidFill>
            <a:prstDash val="solid"/>
          </a:ln>
        </p:spPr>
      </p:sp>
      <p:sp>
        <p:nvSpPr>
          <p:cNvPr id="5" name="Text 2"/>
          <p:cNvSpPr txBox="1"/>
          <p:nvPr/>
        </p:nvSpPr>
        <p:spPr>
          <a:xfrm>
            <a:off x="5715000" y="1280160"/>
            <a:ext cx="2743200" cy="320040"/>
          </a:xfrm>
          <a:prstGeom prst="rect">
            <a:avLst/>
          </a:prstGeom>
          <a:noFill/>
          <a:ln/>
        </p:spPr>
        <p:txBody>
          <a:bodyPr wrap="square" lIns="0" tIns="0" rIns="0" bIns="0" rtlCol="0" anchor="t"/>
          <a:lstStyle/>
          <a:p>
            <a:pPr indent="0" marL="0">
              <a:buNone/>
            </a:pPr>
            <a:r>
              <a:rPr lang="en-US" sz="1600" b="1" dirty="0">
                <a:solidFill>
                  <a:schemeClr val="bg1"/>
                </a:solidFill>
              </a:rPr>
              <a:t>Structured JSON logs</a:t>
            </a:r>
            <a:endParaRPr lang="en-US" sz="1600" dirty="0"/>
          </a:p>
        </p:txBody>
      </p:sp>
      <p:sp>
        <p:nvSpPr>
          <p:cNvPr id="6" name="Text 3"/>
          <p:cNvSpPr txBox="1"/>
          <p:nvPr/>
        </p:nvSpPr>
        <p:spPr>
          <a:xfrm>
            <a:off x="5715000" y="1691640"/>
            <a:ext cx="278892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4E5E9"/>
                </a:solidFill>
              </a:rPr>
              <a:t>Request ID follows a request across all services</a:t>
            </a:r>
            <a:endParaRPr lang="en-US" sz="1300" dirty="0"/>
          </a:p>
          <a:p>
            <a:pPr marL="342900" indent="-342900">
              <a:spcAft>
                <a:spcPts val="600"/>
              </a:spcAft>
              <a:buSzPct val="100000"/>
              <a:buChar char="•"/>
            </a:pPr>
            <a:r>
              <a:rPr lang="en-US" sz="1300" dirty="0">
                <a:solidFill>
                  <a:srgbClr val="E4E5E9"/>
                </a:solidFill>
              </a:rPr>
              <a:t>No bodies, cookies or tokens logged</a:t>
            </a:r>
            <a:endParaRPr lang="en-US" sz="1300" dirty="0"/>
          </a:p>
          <a:p>
            <a:pPr marL="342900" indent="-342900">
              <a:spcAft>
                <a:spcPts val="600"/>
              </a:spcAft>
              <a:buSzPct val="100000"/>
              <a:buChar char="•"/>
            </a:pPr>
            <a:r>
              <a:rPr lang="en-US" sz="1300" dirty="0">
                <a:solidFill>
                  <a:srgbClr val="E4E5E9"/>
                </a:solidFill>
              </a:rPr>
              <a:t>0 secret values found in any log</a:t>
            </a:r>
            <a:endParaRPr lang="en-US" sz="1300" dirty="0"/>
          </a:p>
          <a:p>
            <a:pPr marL="342900" indent="-342900">
              <a:spcAft>
                <a:spcPts val="600"/>
              </a:spcAft>
              <a:buSzPct val="100000"/>
              <a:buChar char="•"/>
            </a:pPr>
            <a:r>
              <a:rPr lang="en-US" sz="1300" dirty="0">
                <a:solidFill>
                  <a:srgbClr val="E4E5E9"/>
                </a:solidFill>
              </a:rPr>
              <a:t>Rotation: 3 × 10 MB per container</a:t>
            </a:r>
            <a:endParaRPr lang="en-US" sz="1300" dirty="0"/>
          </a:p>
        </p:txBody>
      </p:sp>
      <p:sp>
        <p:nvSpPr>
          <p:cNvPr id="7" name="Text 4"/>
          <p:cNvSpPr txBox="1"/>
          <p:nvPr/>
        </p:nvSpPr>
        <p:spPr>
          <a:xfrm>
            <a:off x="5715000" y="3429000"/>
            <a:ext cx="2788920" cy="548640"/>
          </a:xfrm>
          <a:prstGeom prst="rect">
            <a:avLst/>
          </a:prstGeom>
          <a:noFill/>
          <a:ln/>
        </p:spPr>
        <p:txBody>
          <a:bodyPr wrap="square" lIns="0" tIns="0" rIns="0" bIns="0" rtlCol="0" anchor="t"/>
          <a:lstStyle/>
          <a:p>
            <a:pPr indent="0" marL="0">
              <a:buNone/>
            </a:pPr>
            <a:r>
              <a:rPr lang="en-US" sz="1000" dirty="0">
                <a:solidFill>
                  <a:srgbClr val="E8A33D"/>
                </a:solidFill>
                <a:latin typeface="Courier New" pitchFamily="34" charset="0"/>
                <a:ea typeface="Courier New" pitchFamily="34" charset="-122"/>
                <a:cs typeface="Courier New" pitchFamily="34" charset="-120"/>
              </a:rPr>
              <a:t>"msg":"auth service unreachable", "err":"ECONNREFUSED"</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Two changes, 3× the throughput</a:t>
            </a:r>
            <a:endParaRPr lang="en-US" sz="3200" dirty="0"/>
          </a:p>
        </p:txBody>
      </p:sp>
      <p:graphicFrame>
        <p:nvGraphicFramePr>
          <p:cNvPr id="3" name="Throughput chart" descr=""/>
          <p:cNvGraphicFramePr/>
          <p:nvPr/>
        </p:nvGraphicFramePr>
        <p:xfrm>
          <a:off x="457200" y="109728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943600" y="1188720"/>
            <a:ext cx="2743200" cy="548640"/>
          </a:xfrm>
          <a:prstGeom prst="rect">
            <a:avLst/>
          </a:prstGeom>
          <a:noFill/>
          <a:ln/>
        </p:spPr>
        <p:txBody>
          <a:bodyPr wrap="square" lIns="0" tIns="0" rIns="0" bIns="0" rtlCol="0" anchor="t"/>
          <a:lstStyle/>
          <a:p>
            <a:pPr indent="0" marL="0">
              <a:buNone/>
            </a:pPr>
            <a:r>
              <a:rPr lang="en-US" sz="3200" b="1" dirty="0">
                <a:solidFill>
                  <a:schemeClr val="accent1"/>
                </a:solidFill>
              </a:rPr>
              <a:t>0 %</a:t>
            </a:r>
            <a:endParaRPr lang="en-US" sz="3200" dirty="0"/>
          </a:p>
        </p:txBody>
      </p:sp>
      <p:sp>
        <p:nvSpPr>
          <p:cNvPr id="5" name="Text 2"/>
          <p:cNvSpPr txBox="1"/>
          <p:nvPr/>
        </p:nvSpPr>
        <p:spPr>
          <a:xfrm>
            <a:off x="5943600" y="1737360"/>
            <a:ext cx="2743200" cy="365760"/>
          </a:xfrm>
          <a:prstGeom prst="rect">
            <a:avLst/>
          </a:prstGeom>
          <a:noFill/>
          <a:ln/>
        </p:spPr>
        <p:txBody>
          <a:bodyPr wrap="square" lIns="0" tIns="0" rIns="0" bIns="0" rtlCol="0" anchor="t"/>
          <a:lstStyle/>
          <a:p>
            <a:pPr indent="0" marL="0">
              <a:buNone/>
            </a:pPr>
            <a:r>
              <a:rPr lang="en-US" sz="1300" dirty="0">
                <a:solidFill>
                  <a:schemeClr val="accent6"/>
                </a:solidFill>
              </a:rPr>
              <a:t>errors in every run</a:t>
            </a:r>
            <a:endParaRPr lang="en-US" sz="1300" dirty="0"/>
          </a:p>
        </p:txBody>
      </p:sp>
      <p:sp>
        <p:nvSpPr>
          <p:cNvPr id="6" name="Text 3"/>
          <p:cNvSpPr txBox="1"/>
          <p:nvPr/>
        </p:nvSpPr>
        <p:spPr>
          <a:xfrm>
            <a:off x="5943600" y="2304288"/>
            <a:ext cx="2743200" cy="548640"/>
          </a:xfrm>
          <a:prstGeom prst="rect">
            <a:avLst/>
          </a:prstGeom>
          <a:noFill/>
          <a:ln/>
        </p:spPr>
        <p:txBody>
          <a:bodyPr wrap="square" lIns="0" tIns="0" rIns="0" bIns="0" rtlCol="0" anchor="t"/>
          <a:lstStyle/>
          <a:p>
            <a:pPr indent="0" marL="0">
              <a:buNone/>
            </a:pPr>
            <a:r>
              <a:rPr lang="en-US" sz="3200" b="1" dirty="0">
                <a:solidFill>
                  <a:schemeClr val="accent1"/>
                </a:solidFill>
              </a:rPr>
              <a:t>−67 %</a:t>
            </a:r>
            <a:endParaRPr lang="en-US" sz="3200" dirty="0"/>
          </a:p>
        </p:txBody>
      </p:sp>
      <p:sp>
        <p:nvSpPr>
          <p:cNvPr id="7" name="Text 4"/>
          <p:cNvSpPr txBox="1"/>
          <p:nvPr/>
        </p:nvSpPr>
        <p:spPr>
          <a:xfrm>
            <a:off x="5943600" y="2852928"/>
            <a:ext cx="2743200" cy="365760"/>
          </a:xfrm>
          <a:prstGeom prst="rect">
            <a:avLst/>
          </a:prstGeom>
          <a:noFill/>
          <a:ln/>
        </p:spPr>
        <p:txBody>
          <a:bodyPr wrap="square" lIns="0" tIns="0" rIns="0" bIns="0" rtlCol="0" anchor="t"/>
          <a:lstStyle/>
          <a:p>
            <a:pPr indent="0" marL="0">
              <a:buNone/>
            </a:pPr>
            <a:r>
              <a:rPr lang="en-US" sz="1300" dirty="0">
                <a:solidFill>
                  <a:schemeClr val="accent6"/>
                </a:solidFill>
              </a:rPr>
              <a:t>average latency (38.2 → 12.5 ms)</a:t>
            </a:r>
            <a:endParaRPr lang="en-US" sz="1300" dirty="0"/>
          </a:p>
        </p:txBody>
      </p:sp>
      <p:sp>
        <p:nvSpPr>
          <p:cNvPr id="8" name="Text 5"/>
          <p:cNvSpPr txBox="1"/>
          <p:nvPr/>
        </p:nvSpPr>
        <p:spPr>
          <a:xfrm>
            <a:off x="5943600" y="3419856"/>
            <a:ext cx="2743200" cy="548640"/>
          </a:xfrm>
          <a:prstGeom prst="rect">
            <a:avLst/>
          </a:prstGeom>
          <a:noFill/>
          <a:ln/>
        </p:spPr>
        <p:txBody>
          <a:bodyPr wrap="square" lIns="0" tIns="0" rIns="0" bIns="0" rtlCol="0" anchor="t"/>
          <a:lstStyle/>
          <a:p>
            <a:pPr indent="0" marL="0">
              <a:buNone/>
            </a:pPr>
            <a:r>
              <a:rPr lang="en-US" sz="3200" b="1" dirty="0">
                <a:solidFill>
                  <a:schemeClr val="accent1"/>
                </a:solidFill>
              </a:rPr>
              <a:t>63 % → 0 %</a:t>
            </a:r>
            <a:endParaRPr lang="en-US" sz="3200" dirty="0"/>
          </a:p>
        </p:txBody>
      </p:sp>
      <p:sp>
        <p:nvSpPr>
          <p:cNvPr id="9" name="Text 6"/>
          <p:cNvSpPr txBox="1"/>
          <p:nvPr/>
        </p:nvSpPr>
        <p:spPr>
          <a:xfrm>
            <a:off x="5943600" y="3968496"/>
            <a:ext cx="2743200" cy="365760"/>
          </a:xfrm>
          <a:prstGeom prst="rect">
            <a:avLst/>
          </a:prstGeom>
          <a:noFill/>
          <a:ln/>
        </p:spPr>
        <p:txBody>
          <a:bodyPr wrap="square" lIns="0" tIns="0" rIns="0" bIns="0" rtlCol="0" anchor="t"/>
          <a:lstStyle/>
          <a:p>
            <a:pPr indent="0" marL="0">
              <a:buNone/>
            </a:pPr>
            <a:r>
              <a:rPr lang="en-US" sz="1300" dirty="0">
                <a:solidFill>
                  <a:schemeClr val="accent6"/>
                </a:solidFill>
              </a:rPr>
              <a:t>auth CPU: the bottleneck removed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Faster file reads, lower latency</a:t>
            </a:r>
            <a:endParaRPr lang="en-US" sz="3200" dirty="0"/>
          </a:p>
        </p:txBody>
      </p:sp>
      <p:graphicFrame>
        <p:nvGraphicFramePr>
          <p:cNvPr id="3" name="Read buffer chart" descr=""/>
          <p:cNvGraphicFramePr/>
          <p:nvPr/>
        </p:nvGraphicFramePr>
        <p:xfrm>
          <a:off x="457200" y="109728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4" name="Read buffer card"/>
          <p:cNvSpPr/>
          <p:nvPr/>
        </p:nvSpPr>
        <p:spPr>
          <a:xfrm>
            <a:off x="5669280" y="1188720"/>
            <a:ext cx="3017520" cy="146304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5897880" y="1325880"/>
            <a:ext cx="2651760" cy="274320"/>
          </a:xfrm>
          <a:prstGeom prst="rect">
            <a:avLst/>
          </a:prstGeom>
          <a:noFill/>
          <a:ln/>
        </p:spPr>
        <p:txBody>
          <a:bodyPr wrap="square" lIns="0" tIns="0" rIns="0" bIns="0" rtlCol="0" anchor="t"/>
          <a:lstStyle/>
          <a:p>
            <a:pPr indent="0" marL="0">
              <a:buNone/>
            </a:pPr>
            <a:r>
              <a:rPr lang="en-US" sz="1400" b="1" dirty="0">
                <a:solidFill>
                  <a:schemeClr val="tx1"/>
                </a:solidFill>
              </a:rPr>
              <a:t>Improvement 3: read buffer</a:t>
            </a:r>
            <a:endParaRPr lang="en-US" sz="1400" dirty="0"/>
          </a:p>
        </p:txBody>
      </p:sp>
      <p:sp>
        <p:nvSpPr>
          <p:cNvPr id="6" name="Text 3"/>
          <p:cNvSpPr txBox="1"/>
          <p:nvPr/>
        </p:nvSpPr>
        <p:spPr>
          <a:xfrm>
            <a:off x="5897880" y="1627632"/>
            <a:ext cx="2651760" cy="502920"/>
          </a:xfrm>
          <a:prstGeom prst="rect">
            <a:avLst/>
          </a:prstGeom>
          <a:noFill/>
          <a:ln/>
        </p:spPr>
        <p:txBody>
          <a:bodyPr wrap="square" lIns="0" tIns="0" rIns="0" bIns="0" rtlCol="0" anchor="t"/>
          <a:lstStyle/>
          <a:p>
            <a:pPr indent="0" marL="0">
              <a:buNone/>
            </a:pPr>
            <a:r>
              <a:rPr lang="en-US" sz="3000" b="1" dirty="0">
                <a:solidFill>
                  <a:schemeClr val="accent1"/>
                </a:solidFill>
              </a:rPr>
              <a:t>+73 %</a:t>
            </a:r>
            <a:endParaRPr lang="en-US" sz="3000" dirty="0"/>
          </a:p>
        </p:txBody>
      </p:sp>
      <p:sp>
        <p:nvSpPr>
          <p:cNvPr id="7" name="Text 4"/>
          <p:cNvSpPr txBox="1"/>
          <p:nvPr/>
        </p:nvSpPr>
        <p:spPr>
          <a:xfrm>
            <a:off x="5897880" y="2176272"/>
            <a:ext cx="2651760" cy="365760"/>
          </a:xfrm>
          <a:prstGeom prst="rect">
            <a:avLst/>
          </a:prstGeom>
          <a:noFill/>
          <a:ln/>
        </p:spPr>
        <p:txBody>
          <a:bodyPr wrap="square" lIns="0" tIns="0" rIns="0" bIns="0" rtlCol="0" anchor="t"/>
          <a:lstStyle/>
          <a:p>
            <a:pPr indent="0" marL="0">
              <a:buNone/>
            </a:pPr>
            <a:r>
              <a:rPr lang="en-US" sz="1200" dirty="0">
                <a:solidFill>
                  <a:schemeClr val="accent6"/>
                </a:solidFill>
              </a:rPr>
              <a:t>throughput, −42 % latency, same CPU</a:t>
            </a:r>
            <a:endParaRPr lang="en-US" sz="1200" dirty="0"/>
          </a:p>
        </p:txBody>
      </p:sp>
      <p:sp>
        <p:nvSpPr>
          <p:cNvPr id="8" name="Normal load card"/>
          <p:cNvSpPr/>
          <p:nvPr/>
        </p:nvSpPr>
        <p:spPr>
          <a:xfrm>
            <a:off x="5669280" y="2880360"/>
            <a:ext cx="3017520" cy="1600200"/>
          </a:xfrm>
          <a:prstGeom prst="roundRect">
            <a:avLst>
              <a:gd name="adj" fmla="val 4571"/>
            </a:avLst>
          </a:prstGeom>
          <a:solidFill>
            <a:schemeClr val="bg2"/>
          </a:solidFill>
          <a:ln w="12700">
            <a:solidFill>
              <a:schemeClr val="bg2"/>
            </a:solidFill>
            <a:prstDash val="solid"/>
          </a:ln>
        </p:spPr>
      </p:sp>
      <p:sp>
        <p:nvSpPr>
          <p:cNvPr id="9" name="Text 6"/>
          <p:cNvSpPr txBox="1"/>
          <p:nvPr/>
        </p:nvSpPr>
        <p:spPr>
          <a:xfrm>
            <a:off x="5897880" y="3017520"/>
            <a:ext cx="2651760" cy="274320"/>
          </a:xfrm>
          <a:prstGeom prst="rect">
            <a:avLst/>
          </a:prstGeom>
          <a:noFill/>
          <a:ln/>
        </p:spPr>
        <p:txBody>
          <a:bodyPr wrap="square" lIns="0" tIns="0" rIns="0" bIns="0" rtlCol="0" anchor="t"/>
          <a:lstStyle/>
          <a:p>
            <a:pPr indent="0" marL="0">
              <a:buNone/>
            </a:pPr>
            <a:r>
              <a:rPr lang="en-US" sz="1400" b="1" dirty="0">
                <a:solidFill>
                  <a:schemeClr val="tx1"/>
                </a:solidFill>
              </a:rPr>
              <a:t>Normal load (0.2 s think time)</a:t>
            </a:r>
            <a:endParaRPr lang="en-US" sz="1400" dirty="0"/>
          </a:p>
        </p:txBody>
      </p:sp>
      <p:sp>
        <p:nvSpPr>
          <p:cNvPr id="10" name="Text 7"/>
          <p:cNvSpPr txBox="1"/>
          <p:nvPr/>
        </p:nvSpPr>
        <p:spPr>
          <a:xfrm>
            <a:off x="5897880" y="3319272"/>
            <a:ext cx="2651760" cy="502920"/>
          </a:xfrm>
          <a:prstGeom prst="rect">
            <a:avLst/>
          </a:prstGeom>
          <a:noFill/>
          <a:ln/>
        </p:spPr>
        <p:txBody>
          <a:bodyPr wrap="square" lIns="0" tIns="0" rIns="0" bIns="0" rtlCol="0" anchor="t"/>
          <a:lstStyle/>
          <a:p>
            <a:pPr indent="0" marL="0">
              <a:buNone/>
            </a:pPr>
            <a:r>
              <a:rPr lang="en-US" sz="3000" b="1" dirty="0">
                <a:solidFill>
                  <a:schemeClr val="accent1"/>
                </a:solidFill>
              </a:rPr>
              <a:t>3.9 → 1.3 ms</a:t>
            </a:r>
            <a:endParaRPr lang="en-US" sz="3000" dirty="0"/>
          </a:p>
        </p:txBody>
      </p:sp>
      <p:sp>
        <p:nvSpPr>
          <p:cNvPr id="11" name="Text 8"/>
          <p:cNvSpPr txBox="1"/>
          <p:nvPr/>
        </p:nvSpPr>
        <p:spPr>
          <a:xfrm>
            <a:off x="5897880" y="3867912"/>
            <a:ext cx="2651760" cy="502920"/>
          </a:xfrm>
          <a:prstGeom prst="rect">
            <a:avLst/>
          </a:prstGeom>
          <a:noFill/>
          <a:ln/>
        </p:spPr>
        <p:txBody>
          <a:bodyPr wrap="square" lIns="0" tIns="0" rIns="0" bIns="0" rtlCol="0" anchor="t"/>
          <a:lstStyle/>
          <a:p>
            <a:pPr indent="0" marL="0">
              <a:buNone/>
            </a:pPr>
            <a:r>
              <a:rPr lang="en-US" sz="1200" dirty="0">
                <a:solidFill>
                  <a:schemeClr val="accent6"/>
                </a:solidFill>
              </a:rPr>
              <a:t>average latency with the verify cache (p95 8.7 → 3.1 ms)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CI/CD pipeline on every push</a:t>
            </a:r>
            <a:endParaRPr lang="en-US" sz="3200" dirty="0"/>
          </a:p>
        </p:txBody>
      </p:sp>
      <p:sp>
        <p:nvSpPr>
          <p:cNvPr id="3" name="CI stage 1"/>
          <p:cNvSpPr/>
          <p:nvPr/>
        </p:nvSpPr>
        <p:spPr>
          <a:xfrm>
            <a:off x="457200" y="1280160"/>
            <a:ext cx="1261872" cy="1600200"/>
          </a:xfrm>
          <a:prstGeom prst="roundRect">
            <a:avLst>
              <a:gd name="adj" fmla="val 5797"/>
            </a:avLst>
          </a:prstGeom>
          <a:solidFill>
            <a:schemeClr val="bg2"/>
          </a:solidFill>
          <a:ln w="12700">
            <a:solidFill>
              <a:schemeClr val="bg2"/>
            </a:solidFill>
            <a:prstDash val="solid"/>
          </a:ln>
        </p:spPr>
      </p:sp>
      <p:sp>
        <p:nvSpPr>
          <p:cNvPr id="4" name="Text 2"/>
          <p:cNvSpPr txBox="1"/>
          <p:nvPr/>
        </p:nvSpPr>
        <p:spPr>
          <a:xfrm>
            <a:off x="585216" y="1417320"/>
            <a:ext cx="1005840" cy="320040"/>
          </a:xfrm>
          <a:prstGeom prst="rect">
            <a:avLst/>
          </a:prstGeom>
          <a:noFill/>
          <a:ln/>
        </p:spPr>
        <p:txBody>
          <a:bodyPr wrap="square" lIns="0" tIns="0" rIns="0" bIns="0" rtlCol="0" anchor="t"/>
          <a:lstStyle/>
          <a:p>
            <a:pPr indent="0" marL="0">
              <a:buNone/>
            </a:pPr>
            <a:r>
              <a:rPr lang="en-US" sz="1300" b="1" dirty="0">
                <a:solidFill>
                  <a:schemeClr val="accent5"/>
                </a:solidFill>
              </a:rPr>
              <a:t>01</a:t>
            </a:r>
            <a:endParaRPr lang="en-US" sz="1300" dirty="0"/>
          </a:p>
        </p:txBody>
      </p:sp>
      <p:sp>
        <p:nvSpPr>
          <p:cNvPr id="5" name="Text 3"/>
          <p:cNvSpPr txBox="1"/>
          <p:nvPr/>
        </p:nvSpPr>
        <p:spPr>
          <a:xfrm>
            <a:off x="585216" y="1737360"/>
            <a:ext cx="1051560" cy="365760"/>
          </a:xfrm>
          <a:prstGeom prst="rect">
            <a:avLst/>
          </a:prstGeom>
          <a:noFill/>
          <a:ln/>
        </p:spPr>
        <p:txBody>
          <a:bodyPr wrap="square" lIns="0" tIns="0" rIns="0" bIns="0" rtlCol="0" anchor="t"/>
          <a:lstStyle/>
          <a:p>
            <a:pPr indent="0" marL="0">
              <a:buNone/>
            </a:pPr>
            <a:r>
              <a:rPr lang="en-US" sz="1600" b="1" dirty="0">
                <a:solidFill>
                  <a:schemeClr val="tx1"/>
                </a:solidFill>
              </a:rPr>
              <a:t>Test</a:t>
            </a:r>
            <a:endParaRPr lang="en-US" sz="1600" dirty="0"/>
          </a:p>
        </p:txBody>
      </p:sp>
      <p:sp>
        <p:nvSpPr>
          <p:cNvPr id="6" name="Text 4"/>
          <p:cNvSpPr txBox="1"/>
          <p:nvPr/>
        </p:nvSpPr>
        <p:spPr>
          <a:xfrm>
            <a:off x="585216" y="2148840"/>
            <a:ext cx="1051560" cy="685800"/>
          </a:xfrm>
          <a:prstGeom prst="rect">
            <a:avLst/>
          </a:prstGeom>
          <a:noFill/>
          <a:ln/>
        </p:spPr>
        <p:txBody>
          <a:bodyPr wrap="square" lIns="0" tIns="0" rIns="0" bIns="0" rtlCol="0" anchor="t"/>
          <a:lstStyle/>
          <a:p>
            <a:pPr indent="0" marL="0">
              <a:buNone/>
            </a:pPr>
            <a:r>
              <a:rPr lang="en-US" sz="1100" dirty="0">
                <a:solidFill>
                  <a:schemeClr val="accent6"/>
                </a:solidFill>
              </a:rPr>
              <a:t>Python and Node unit tests</a:t>
            </a:r>
            <a:endParaRPr lang="en-US" sz="1100" dirty="0"/>
          </a:p>
        </p:txBody>
      </p:sp>
      <p:sp>
        <p:nvSpPr>
          <p:cNvPr id="7" name="CI stage 2"/>
          <p:cNvSpPr/>
          <p:nvPr/>
        </p:nvSpPr>
        <p:spPr>
          <a:xfrm>
            <a:off x="1856232" y="1280160"/>
            <a:ext cx="1261872" cy="1600200"/>
          </a:xfrm>
          <a:prstGeom prst="roundRect">
            <a:avLst>
              <a:gd name="adj" fmla="val 5797"/>
            </a:avLst>
          </a:prstGeom>
          <a:solidFill>
            <a:schemeClr val="bg2"/>
          </a:solidFill>
          <a:ln w="12700">
            <a:solidFill>
              <a:schemeClr val="bg2"/>
            </a:solidFill>
            <a:prstDash val="solid"/>
          </a:ln>
        </p:spPr>
      </p:sp>
      <p:sp>
        <p:nvSpPr>
          <p:cNvPr id="8" name="Text 6"/>
          <p:cNvSpPr txBox="1"/>
          <p:nvPr/>
        </p:nvSpPr>
        <p:spPr>
          <a:xfrm>
            <a:off x="1984248" y="1417320"/>
            <a:ext cx="1005840" cy="320040"/>
          </a:xfrm>
          <a:prstGeom prst="rect">
            <a:avLst/>
          </a:prstGeom>
          <a:noFill/>
          <a:ln/>
        </p:spPr>
        <p:txBody>
          <a:bodyPr wrap="square" lIns="0" tIns="0" rIns="0" bIns="0" rtlCol="0" anchor="t"/>
          <a:lstStyle/>
          <a:p>
            <a:pPr indent="0" marL="0">
              <a:buNone/>
            </a:pPr>
            <a:r>
              <a:rPr lang="en-US" sz="1300" b="1" dirty="0">
                <a:solidFill>
                  <a:schemeClr val="accent5"/>
                </a:solidFill>
              </a:rPr>
              <a:t>02</a:t>
            </a:r>
            <a:endParaRPr lang="en-US" sz="1300" dirty="0"/>
          </a:p>
        </p:txBody>
      </p:sp>
      <p:sp>
        <p:nvSpPr>
          <p:cNvPr id="9" name="Text 7"/>
          <p:cNvSpPr txBox="1"/>
          <p:nvPr/>
        </p:nvSpPr>
        <p:spPr>
          <a:xfrm>
            <a:off x="1984248" y="1737360"/>
            <a:ext cx="1051560" cy="365760"/>
          </a:xfrm>
          <a:prstGeom prst="rect">
            <a:avLst/>
          </a:prstGeom>
          <a:noFill/>
          <a:ln/>
        </p:spPr>
        <p:txBody>
          <a:bodyPr wrap="square" lIns="0" tIns="0" rIns="0" bIns="0" rtlCol="0" anchor="t"/>
          <a:lstStyle/>
          <a:p>
            <a:pPr indent="0" marL="0">
              <a:buNone/>
            </a:pPr>
            <a:r>
              <a:rPr lang="en-US" sz="1600" b="1" dirty="0">
                <a:solidFill>
                  <a:schemeClr val="tx1"/>
                </a:solidFill>
              </a:rPr>
              <a:t>Test stage</a:t>
            </a:r>
            <a:endParaRPr lang="en-US" sz="1600" dirty="0"/>
          </a:p>
        </p:txBody>
      </p:sp>
      <p:sp>
        <p:nvSpPr>
          <p:cNvPr id="10" name="Text 8"/>
          <p:cNvSpPr txBox="1"/>
          <p:nvPr/>
        </p:nvSpPr>
        <p:spPr>
          <a:xfrm>
            <a:off x="1984248" y="2148840"/>
            <a:ext cx="1051560" cy="685800"/>
          </a:xfrm>
          <a:prstGeom prst="rect">
            <a:avLst/>
          </a:prstGeom>
          <a:noFill/>
          <a:ln/>
        </p:spPr>
        <p:txBody>
          <a:bodyPr wrap="square" lIns="0" tIns="0" rIns="0" bIns="0" rtlCol="0" anchor="t"/>
          <a:lstStyle/>
          <a:p>
            <a:pPr indent="0" marL="0">
              <a:buNone/>
            </a:pPr>
            <a:r>
              <a:rPr lang="en-US" sz="1100" dirty="0">
                <a:solidFill>
                  <a:schemeClr val="accent6"/>
                </a:solidFill>
              </a:rPr>
              <a:t>Tests run inside each image</a:t>
            </a:r>
            <a:endParaRPr lang="en-US" sz="1100" dirty="0"/>
          </a:p>
        </p:txBody>
      </p:sp>
      <p:sp>
        <p:nvSpPr>
          <p:cNvPr id="11" name="CI stage 3"/>
          <p:cNvSpPr/>
          <p:nvPr/>
        </p:nvSpPr>
        <p:spPr>
          <a:xfrm>
            <a:off x="3255264" y="1280160"/>
            <a:ext cx="1261872" cy="1600200"/>
          </a:xfrm>
          <a:prstGeom prst="roundRect">
            <a:avLst>
              <a:gd name="adj" fmla="val 5797"/>
            </a:avLst>
          </a:prstGeom>
          <a:solidFill>
            <a:schemeClr val="bg2"/>
          </a:solidFill>
          <a:ln w="12700">
            <a:solidFill>
              <a:schemeClr val="bg2"/>
            </a:solidFill>
            <a:prstDash val="solid"/>
          </a:ln>
        </p:spPr>
      </p:sp>
      <p:sp>
        <p:nvSpPr>
          <p:cNvPr id="12" name="Text 10"/>
          <p:cNvSpPr txBox="1"/>
          <p:nvPr/>
        </p:nvSpPr>
        <p:spPr>
          <a:xfrm>
            <a:off x="3383280" y="1417320"/>
            <a:ext cx="1005840" cy="320040"/>
          </a:xfrm>
          <a:prstGeom prst="rect">
            <a:avLst/>
          </a:prstGeom>
          <a:noFill/>
          <a:ln/>
        </p:spPr>
        <p:txBody>
          <a:bodyPr wrap="square" lIns="0" tIns="0" rIns="0" bIns="0" rtlCol="0" anchor="t"/>
          <a:lstStyle/>
          <a:p>
            <a:pPr indent="0" marL="0">
              <a:buNone/>
            </a:pPr>
            <a:r>
              <a:rPr lang="en-US" sz="1300" b="1" dirty="0">
                <a:solidFill>
                  <a:schemeClr val="accent5"/>
                </a:solidFill>
              </a:rPr>
              <a:t>03</a:t>
            </a:r>
            <a:endParaRPr lang="en-US" sz="1300" dirty="0"/>
          </a:p>
        </p:txBody>
      </p:sp>
      <p:sp>
        <p:nvSpPr>
          <p:cNvPr id="13" name="Text 11"/>
          <p:cNvSpPr txBox="1"/>
          <p:nvPr/>
        </p:nvSpPr>
        <p:spPr>
          <a:xfrm>
            <a:off x="3383280" y="1737360"/>
            <a:ext cx="1051560" cy="365760"/>
          </a:xfrm>
          <a:prstGeom prst="rect">
            <a:avLst/>
          </a:prstGeom>
          <a:noFill/>
          <a:ln/>
        </p:spPr>
        <p:txBody>
          <a:bodyPr wrap="square" lIns="0" tIns="0" rIns="0" bIns="0" rtlCol="0" anchor="t"/>
          <a:lstStyle/>
          <a:p>
            <a:pPr indent="0" marL="0">
              <a:buNone/>
            </a:pPr>
            <a:r>
              <a:rPr lang="en-US" sz="1600" b="1" dirty="0">
                <a:solidFill>
                  <a:schemeClr val="tx1"/>
                </a:solidFill>
              </a:rPr>
              <a:t>Build</a:t>
            </a:r>
            <a:endParaRPr lang="en-US" sz="1600" dirty="0"/>
          </a:p>
        </p:txBody>
      </p:sp>
      <p:sp>
        <p:nvSpPr>
          <p:cNvPr id="14" name="Text 12"/>
          <p:cNvSpPr txBox="1"/>
          <p:nvPr/>
        </p:nvSpPr>
        <p:spPr>
          <a:xfrm>
            <a:off x="3383280" y="2148840"/>
            <a:ext cx="1051560" cy="685800"/>
          </a:xfrm>
          <a:prstGeom prst="rect">
            <a:avLst/>
          </a:prstGeom>
          <a:noFill/>
          <a:ln/>
        </p:spPr>
        <p:txBody>
          <a:bodyPr wrap="square" lIns="0" tIns="0" rIns="0" bIns="0" rtlCol="0" anchor="t"/>
          <a:lstStyle/>
          <a:p>
            <a:pPr indent="0" marL="0">
              <a:buNone/>
            </a:pPr>
            <a:r>
              <a:rPr lang="en-US" sz="1100" dirty="0">
                <a:solidFill>
                  <a:schemeClr val="accent6"/>
                </a:solidFill>
              </a:rPr>
              <a:t>buildx, layer cache</a:t>
            </a:r>
            <a:endParaRPr lang="en-US" sz="1100" dirty="0"/>
          </a:p>
        </p:txBody>
      </p:sp>
      <p:sp>
        <p:nvSpPr>
          <p:cNvPr id="15" name="CI stage 4"/>
          <p:cNvSpPr/>
          <p:nvPr/>
        </p:nvSpPr>
        <p:spPr>
          <a:xfrm>
            <a:off x="4654296" y="1280160"/>
            <a:ext cx="1261872" cy="1600200"/>
          </a:xfrm>
          <a:prstGeom prst="roundRect">
            <a:avLst>
              <a:gd name="adj" fmla="val 5797"/>
            </a:avLst>
          </a:prstGeom>
          <a:solidFill>
            <a:schemeClr val="accent1"/>
          </a:solidFill>
          <a:ln w="12700">
            <a:solidFill>
              <a:schemeClr val="accent1"/>
            </a:solidFill>
            <a:prstDash val="solid"/>
          </a:ln>
        </p:spPr>
      </p:sp>
      <p:sp>
        <p:nvSpPr>
          <p:cNvPr id="16" name="Text 14"/>
          <p:cNvSpPr txBox="1"/>
          <p:nvPr/>
        </p:nvSpPr>
        <p:spPr>
          <a:xfrm>
            <a:off x="4782312" y="1417320"/>
            <a:ext cx="1005840" cy="320040"/>
          </a:xfrm>
          <a:prstGeom prst="rect">
            <a:avLst/>
          </a:prstGeom>
          <a:noFill/>
          <a:ln/>
        </p:spPr>
        <p:txBody>
          <a:bodyPr wrap="square" lIns="0" tIns="0" rIns="0" bIns="0" rtlCol="0" anchor="t"/>
          <a:lstStyle/>
          <a:p>
            <a:pPr indent="0" marL="0">
              <a:buNone/>
            </a:pPr>
            <a:r>
              <a:rPr lang="en-US" sz="1300" b="1" dirty="0">
                <a:solidFill>
                  <a:srgbClr val="FBD5CE"/>
                </a:solidFill>
              </a:rPr>
              <a:t>04</a:t>
            </a:r>
            <a:endParaRPr lang="en-US" sz="1300" dirty="0"/>
          </a:p>
        </p:txBody>
      </p:sp>
      <p:sp>
        <p:nvSpPr>
          <p:cNvPr id="17" name="Text 15"/>
          <p:cNvSpPr txBox="1"/>
          <p:nvPr/>
        </p:nvSpPr>
        <p:spPr>
          <a:xfrm>
            <a:off x="4782312" y="1737360"/>
            <a:ext cx="1051560" cy="365760"/>
          </a:xfrm>
          <a:prstGeom prst="rect">
            <a:avLst/>
          </a:prstGeom>
          <a:noFill/>
          <a:ln/>
        </p:spPr>
        <p:txBody>
          <a:bodyPr wrap="square" lIns="0" tIns="0" rIns="0" bIns="0" rtlCol="0" anchor="t"/>
          <a:lstStyle/>
          <a:p>
            <a:pPr indent="0" marL="0">
              <a:buNone/>
            </a:pPr>
            <a:r>
              <a:rPr lang="en-US" sz="1600" b="1" dirty="0">
                <a:solidFill>
                  <a:schemeClr val="bg1"/>
                </a:solidFill>
              </a:rPr>
              <a:t>Scan</a:t>
            </a:r>
            <a:endParaRPr lang="en-US" sz="1600" dirty="0"/>
          </a:p>
        </p:txBody>
      </p:sp>
      <p:sp>
        <p:nvSpPr>
          <p:cNvPr id="18" name="Text 16"/>
          <p:cNvSpPr txBox="1"/>
          <p:nvPr/>
        </p:nvSpPr>
        <p:spPr>
          <a:xfrm>
            <a:off x="4782312" y="2148840"/>
            <a:ext cx="1051560" cy="685800"/>
          </a:xfrm>
          <a:prstGeom prst="rect">
            <a:avLst/>
          </a:prstGeom>
          <a:noFill/>
          <a:ln/>
        </p:spPr>
        <p:txBody>
          <a:bodyPr wrap="square" lIns="0" tIns="0" rIns="0" bIns="0" rtlCol="0" anchor="t"/>
          <a:lstStyle/>
          <a:p>
            <a:pPr indent="0" marL="0">
              <a:buNone/>
            </a:pPr>
            <a:r>
              <a:rPr lang="en-US" sz="1100" dirty="0">
                <a:solidFill>
                  <a:schemeClr val="bg1"/>
                </a:solidFill>
              </a:rPr>
              <a:t>Trivy: SARIF + CRITICAL gate</a:t>
            </a:r>
            <a:endParaRPr lang="en-US" sz="1100" dirty="0"/>
          </a:p>
        </p:txBody>
      </p:sp>
      <p:sp>
        <p:nvSpPr>
          <p:cNvPr id="19" name="CI stage 5"/>
          <p:cNvSpPr/>
          <p:nvPr/>
        </p:nvSpPr>
        <p:spPr>
          <a:xfrm>
            <a:off x="6053328" y="1280160"/>
            <a:ext cx="1261872" cy="1600200"/>
          </a:xfrm>
          <a:prstGeom prst="roundRect">
            <a:avLst>
              <a:gd name="adj" fmla="val 5797"/>
            </a:avLst>
          </a:prstGeom>
          <a:solidFill>
            <a:schemeClr val="bg2"/>
          </a:solidFill>
          <a:ln w="12700">
            <a:solidFill>
              <a:schemeClr val="bg2"/>
            </a:solidFill>
            <a:prstDash val="solid"/>
          </a:ln>
        </p:spPr>
      </p:sp>
      <p:sp>
        <p:nvSpPr>
          <p:cNvPr id="20" name="Text 18"/>
          <p:cNvSpPr txBox="1"/>
          <p:nvPr/>
        </p:nvSpPr>
        <p:spPr>
          <a:xfrm>
            <a:off x="6181344" y="1417320"/>
            <a:ext cx="1005840" cy="320040"/>
          </a:xfrm>
          <a:prstGeom prst="rect">
            <a:avLst/>
          </a:prstGeom>
          <a:noFill/>
          <a:ln/>
        </p:spPr>
        <p:txBody>
          <a:bodyPr wrap="square" lIns="0" tIns="0" rIns="0" bIns="0" rtlCol="0" anchor="t"/>
          <a:lstStyle/>
          <a:p>
            <a:pPr indent="0" marL="0">
              <a:buNone/>
            </a:pPr>
            <a:r>
              <a:rPr lang="en-US" sz="1300" b="1" dirty="0">
                <a:solidFill>
                  <a:schemeClr val="accent5"/>
                </a:solidFill>
              </a:rPr>
              <a:t>05</a:t>
            </a:r>
            <a:endParaRPr lang="en-US" sz="1300" dirty="0"/>
          </a:p>
        </p:txBody>
      </p:sp>
      <p:sp>
        <p:nvSpPr>
          <p:cNvPr id="21" name="Text 19"/>
          <p:cNvSpPr txBox="1"/>
          <p:nvPr/>
        </p:nvSpPr>
        <p:spPr>
          <a:xfrm>
            <a:off x="6181344" y="1737360"/>
            <a:ext cx="1051560" cy="365760"/>
          </a:xfrm>
          <a:prstGeom prst="rect">
            <a:avLst/>
          </a:prstGeom>
          <a:noFill/>
          <a:ln/>
        </p:spPr>
        <p:txBody>
          <a:bodyPr wrap="square" lIns="0" tIns="0" rIns="0" bIns="0" rtlCol="0" anchor="t"/>
          <a:lstStyle/>
          <a:p>
            <a:pPr indent="0" marL="0">
              <a:buNone/>
            </a:pPr>
            <a:r>
              <a:rPr lang="en-US" sz="1600" b="1" dirty="0">
                <a:solidFill>
                  <a:schemeClr val="tx1"/>
                </a:solidFill>
              </a:rPr>
              <a:t>Tag</a:t>
            </a:r>
            <a:endParaRPr lang="en-US" sz="1600" dirty="0"/>
          </a:p>
        </p:txBody>
      </p:sp>
      <p:sp>
        <p:nvSpPr>
          <p:cNvPr id="22" name="Text 20"/>
          <p:cNvSpPr txBox="1"/>
          <p:nvPr/>
        </p:nvSpPr>
        <p:spPr>
          <a:xfrm>
            <a:off x="6181344" y="2148840"/>
            <a:ext cx="1051560" cy="685800"/>
          </a:xfrm>
          <a:prstGeom prst="rect">
            <a:avLst/>
          </a:prstGeom>
          <a:noFill/>
          <a:ln/>
        </p:spPr>
        <p:txBody>
          <a:bodyPr wrap="square" lIns="0" tIns="0" rIns="0" bIns="0" rtlCol="0" anchor="t"/>
          <a:lstStyle/>
          <a:p>
            <a:pPr indent="0" marL="0">
              <a:buNone/>
            </a:pPr>
            <a:r>
              <a:rPr lang="en-US" sz="1100" dirty="0">
                <a:solidFill>
                  <a:schemeClr val="accent6"/>
                </a:solidFill>
              </a:rPr>
              <a:t>sha-xxxx, branch, semver, latest</a:t>
            </a:r>
            <a:endParaRPr lang="en-US" sz="1100" dirty="0"/>
          </a:p>
        </p:txBody>
      </p:sp>
      <p:sp>
        <p:nvSpPr>
          <p:cNvPr id="23" name="CI stage 6"/>
          <p:cNvSpPr/>
          <p:nvPr/>
        </p:nvSpPr>
        <p:spPr>
          <a:xfrm>
            <a:off x="7452360" y="1280160"/>
            <a:ext cx="1261872" cy="1600200"/>
          </a:xfrm>
          <a:prstGeom prst="roundRect">
            <a:avLst>
              <a:gd name="adj" fmla="val 5797"/>
            </a:avLst>
          </a:prstGeom>
          <a:solidFill>
            <a:schemeClr val="bg2"/>
          </a:solidFill>
          <a:ln w="12700">
            <a:solidFill>
              <a:schemeClr val="bg2"/>
            </a:solidFill>
            <a:prstDash val="solid"/>
          </a:ln>
        </p:spPr>
      </p:sp>
      <p:sp>
        <p:nvSpPr>
          <p:cNvPr id="24" name="Text 22"/>
          <p:cNvSpPr txBox="1"/>
          <p:nvPr/>
        </p:nvSpPr>
        <p:spPr>
          <a:xfrm>
            <a:off x="7580376" y="1417320"/>
            <a:ext cx="1005840" cy="320040"/>
          </a:xfrm>
          <a:prstGeom prst="rect">
            <a:avLst/>
          </a:prstGeom>
          <a:noFill/>
          <a:ln/>
        </p:spPr>
        <p:txBody>
          <a:bodyPr wrap="square" lIns="0" tIns="0" rIns="0" bIns="0" rtlCol="0" anchor="t"/>
          <a:lstStyle/>
          <a:p>
            <a:pPr indent="0" marL="0">
              <a:buNone/>
            </a:pPr>
            <a:r>
              <a:rPr lang="en-US" sz="1300" b="1" dirty="0">
                <a:solidFill>
                  <a:schemeClr val="accent5"/>
                </a:solidFill>
              </a:rPr>
              <a:t>06</a:t>
            </a:r>
            <a:endParaRPr lang="en-US" sz="1300" dirty="0"/>
          </a:p>
        </p:txBody>
      </p:sp>
      <p:sp>
        <p:nvSpPr>
          <p:cNvPr id="25" name="Text 23"/>
          <p:cNvSpPr txBox="1"/>
          <p:nvPr/>
        </p:nvSpPr>
        <p:spPr>
          <a:xfrm>
            <a:off x="7580376" y="1737360"/>
            <a:ext cx="1051560" cy="365760"/>
          </a:xfrm>
          <a:prstGeom prst="rect">
            <a:avLst/>
          </a:prstGeom>
          <a:noFill/>
          <a:ln/>
        </p:spPr>
        <p:txBody>
          <a:bodyPr wrap="square" lIns="0" tIns="0" rIns="0" bIns="0" rtlCol="0" anchor="t"/>
          <a:lstStyle/>
          <a:p>
            <a:pPr indent="0" marL="0">
              <a:buNone/>
            </a:pPr>
            <a:r>
              <a:rPr lang="en-US" sz="1600" b="1" dirty="0">
                <a:solidFill>
                  <a:schemeClr val="tx1"/>
                </a:solidFill>
              </a:rPr>
              <a:t>Publish</a:t>
            </a:r>
            <a:endParaRPr lang="en-US" sz="1600" dirty="0"/>
          </a:p>
        </p:txBody>
      </p:sp>
      <p:sp>
        <p:nvSpPr>
          <p:cNvPr id="26" name="Text 24"/>
          <p:cNvSpPr txBox="1"/>
          <p:nvPr/>
        </p:nvSpPr>
        <p:spPr>
          <a:xfrm>
            <a:off x="7580376" y="2148840"/>
            <a:ext cx="1051560" cy="685800"/>
          </a:xfrm>
          <a:prstGeom prst="rect">
            <a:avLst/>
          </a:prstGeom>
          <a:noFill/>
          <a:ln/>
        </p:spPr>
        <p:txBody>
          <a:bodyPr wrap="square" lIns="0" tIns="0" rIns="0" bIns="0" rtlCol="0" anchor="t"/>
          <a:lstStyle/>
          <a:p>
            <a:pPr indent="0" marL="0">
              <a:buNone/>
            </a:pPr>
            <a:r>
              <a:rPr lang="en-US" sz="1100" dirty="0">
                <a:solidFill>
                  <a:schemeClr val="accent6"/>
                </a:solidFill>
              </a:rPr>
              <a:t>GHCR, amd64 + arm64, SBOM</a:t>
            </a:r>
            <a:endParaRPr lang="en-US" sz="1100" dirty="0"/>
          </a:p>
        </p:txBody>
      </p:sp>
      <p:sp>
        <p:nvSpPr>
          <p:cNvPr id="27" name="E2E job card"/>
          <p:cNvSpPr/>
          <p:nvPr/>
        </p:nvSpPr>
        <p:spPr>
          <a:xfrm>
            <a:off x="457200" y="3154680"/>
            <a:ext cx="8229600" cy="1280160"/>
          </a:xfrm>
          <a:prstGeom prst="roundRect">
            <a:avLst>
              <a:gd name="adj" fmla="val 5714"/>
            </a:avLst>
          </a:prstGeom>
          <a:solidFill>
            <a:schemeClr val="tx2"/>
          </a:solidFill>
          <a:ln w="12700">
            <a:solidFill>
              <a:schemeClr val="tx2"/>
            </a:solidFill>
            <a:prstDash val="solid"/>
          </a:ln>
        </p:spPr>
      </p:sp>
      <p:sp>
        <p:nvSpPr>
          <p:cNvPr id="28" name="Text 26"/>
          <p:cNvSpPr txBox="1"/>
          <p:nvPr/>
        </p:nvSpPr>
        <p:spPr>
          <a:xfrm>
            <a:off x="685800" y="3291840"/>
            <a:ext cx="2743200" cy="320040"/>
          </a:xfrm>
          <a:prstGeom prst="rect">
            <a:avLst/>
          </a:prstGeom>
          <a:noFill/>
          <a:ln/>
        </p:spPr>
        <p:txBody>
          <a:bodyPr wrap="square" lIns="0" tIns="0" rIns="0" bIns="0" rtlCol="0" anchor="t"/>
          <a:lstStyle/>
          <a:p>
            <a:pPr indent="0" marL="0">
              <a:buNone/>
            </a:pPr>
            <a:r>
              <a:rPr lang="en-US" sz="1600" b="1" dirty="0">
                <a:solidFill>
                  <a:schemeClr val="bg1"/>
                </a:solidFill>
              </a:rPr>
              <a:t>Parallel e2e job</a:t>
            </a:r>
            <a:endParaRPr lang="en-US" sz="1600" dirty="0"/>
          </a:p>
        </p:txBody>
      </p:sp>
      <p:sp>
        <p:nvSpPr>
          <p:cNvPr id="29" name="Text 27"/>
          <p:cNvSpPr txBox="1"/>
          <p:nvPr/>
        </p:nvSpPr>
        <p:spPr>
          <a:xfrm>
            <a:off x="685800" y="3657600"/>
            <a:ext cx="7772400" cy="685800"/>
          </a:xfrm>
          <a:prstGeom prst="rect">
            <a:avLst/>
          </a:prstGeom>
          <a:noFill/>
          <a:ln/>
        </p:spPr>
        <p:txBody>
          <a:bodyPr wrap="square" lIns="0" tIns="0" rIns="0" bIns="0" rtlCol="0" anchor="t"/>
          <a:lstStyle/>
          <a:p>
            <a:pPr indent="0" marL="0">
              <a:buNone/>
            </a:pPr>
            <a:r>
              <a:rPr lang="en-US" sz="1300" dirty="0">
                <a:solidFill>
                  <a:srgbClr val="E4E5E9"/>
                </a:solidFill>
              </a:rPr>
              <a:t>Starts the full stack with docker compose up --wait and real MySQL, then runs e2e.sh, persistence-test.sh and failure-test.sh. Results are uploaded as a build artifact.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What the tests prove</a:t>
            </a:r>
            <a:endParaRPr lang="en-US" sz="3200" dirty="0"/>
          </a:p>
        </p:txBody>
      </p:sp>
      <p:sp>
        <p:nvSpPr>
          <p:cNvPr id="3" name="Test stat 1"/>
          <p:cNvSpPr/>
          <p:nvPr/>
        </p:nvSpPr>
        <p:spPr>
          <a:xfrm>
            <a:off x="457200" y="1188720"/>
            <a:ext cx="2606040" cy="201168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685800" y="1325880"/>
            <a:ext cx="2194560" cy="822960"/>
          </a:xfrm>
          <a:prstGeom prst="rect">
            <a:avLst/>
          </a:prstGeom>
          <a:noFill/>
          <a:ln/>
        </p:spPr>
        <p:txBody>
          <a:bodyPr wrap="square" lIns="0" tIns="0" rIns="0" bIns="0" rtlCol="0" anchor="t"/>
          <a:lstStyle/>
          <a:p>
            <a:pPr indent="0" marL="0">
              <a:buNone/>
            </a:pPr>
            <a:r>
              <a:rPr lang="en-US" sz="5400" b="1" dirty="0">
                <a:solidFill>
                  <a:schemeClr val="accent1"/>
                </a:solidFill>
              </a:rPr>
              <a:t>35</a:t>
            </a:r>
            <a:endParaRPr lang="en-US" sz="5400" dirty="0"/>
          </a:p>
        </p:txBody>
      </p:sp>
      <p:sp>
        <p:nvSpPr>
          <p:cNvPr id="5" name="Text 3"/>
          <p:cNvSpPr txBox="1"/>
          <p:nvPr/>
        </p:nvSpPr>
        <p:spPr>
          <a:xfrm>
            <a:off x="685800" y="2148840"/>
            <a:ext cx="2194560" cy="320040"/>
          </a:xfrm>
          <a:prstGeom prst="rect">
            <a:avLst/>
          </a:prstGeom>
          <a:noFill/>
          <a:ln/>
        </p:spPr>
        <p:txBody>
          <a:bodyPr wrap="square" lIns="0" tIns="0" rIns="0" bIns="0" rtlCol="0" anchor="t"/>
          <a:lstStyle/>
          <a:p>
            <a:pPr indent="0" marL="0">
              <a:buNone/>
            </a:pPr>
            <a:r>
              <a:rPr lang="en-US" sz="1600" b="1" dirty="0">
                <a:solidFill>
                  <a:schemeClr val="tx1"/>
                </a:solidFill>
              </a:rPr>
              <a:t>unit tests</a:t>
            </a:r>
            <a:endParaRPr lang="en-US" sz="1600" dirty="0"/>
          </a:p>
        </p:txBody>
      </p:sp>
      <p:sp>
        <p:nvSpPr>
          <p:cNvPr id="6" name="Text 4"/>
          <p:cNvSpPr txBox="1"/>
          <p:nvPr/>
        </p:nvSpPr>
        <p:spPr>
          <a:xfrm>
            <a:off x="685800" y="2514600"/>
            <a:ext cx="2194560" cy="594360"/>
          </a:xfrm>
          <a:prstGeom prst="rect">
            <a:avLst/>
          </a:prstGeom>
          <a:noFill/>
          <a:ln/>
        </p:spPr>
        <p:txBody>
          <a:bodyPr wrap="square" lIns="0" tIns="0" rIns="0" bIns="0" rtlCol="0" anchor="t"/>
          <a:lstStyle/>
          <a:p>
            <a:pPr indent="0" marL="0">
              <a:buNone/>
            </a:pPr>
            <a:r>
              <a:rPr lang="en-US" sz="1200" dirty="0">
                <a:solidFill>
                  <a:schemeClr val="accent6"/>
                </a:solidFill>
              </a:rPr>
              <a:t>Auth 13 · files 7 · upload 10 · streaming 5</a:t>
            </a:r>
            <a:endParaRPr lang="en-US" sz="1200" dirty="0"/>
          </a:p>
        </p:txBody>
      </p:sp>
      <p:sp>
        <p:nvSpPr>
          <p:cNvPr id="7" name="Test stat 2"/>
          <p:cNvSpPr/>
          <p:nvPr/>
        </p:nvSpPr>
        <p:spPr>
          <a:xfrm>
            <a:off x="3246120" y="1188720"/>
            <a:ext cx="2606040" cy="2011680"/>
          </a:xfrm>
          <a:prstGeom prst="roundRect">
            <a:avLst>
              <a:gd name="adj" fmla="val 3636"/>
            </a:avLst>
          </a:prstGeom>
          <a:solidFill>
            <a:schemeClr val="bg2"/>
          </a:solidFill>
          <a:ln w="12700">
            <a:solidFill>
              <a:schemeClr val="bg2"/>
            </a:solidFill>
            <a:prstDash val="solid"/>
          </a:ln>
        </p:spPr>
      </p:sp>
      <p:sp>
        <p:nvSpPr>
          <p:cNvPr id="8" name="Text 6"/>
          <p:cNvSpPr txBox="1"/>
          <p:nvPr/>
        </p:nvSpPr>
        <p:spPr>
          <a:xfrm>
            <a:off x="3474720" y="1325880"/>
            <a:ext cx="2194560" cy="822960"/>
          </a:xfrm>
          <a:prstGeom prst="rect">
            <a:avLst/>
          </a:prstGeom>
          <a:noFill/>
          <a:ln/>
        </p:spPr>
        <p:txBody>
          <a:bodyPr wrap="square" lIns="0" tIns="0" rIns="0" bIns="0" rtlCol="0" anchor="t"/>
          <a:lstStyle/>
          <a:p>
            <a:pPr indent="0" marL="0">
              <a:buNone/>
            </a:pPr>
            <a:r>
              <a:rPr lang="en-US" sz="5400" b="1" dirty="0">
                <a:solidFill>
                  <a:schemeClr val="accent1"/>
                </a:solidFill>
              </a:rPr>
              <a:t>17</a:t>
            </a:r>
            <a:endParaRPr lang="en-US" sz="5400" dirty="0"/>
          </a:p>
        </p:txBody>
      </p:sp>
      <p:sp>
        <p:nvSpPr>
          <p:cNvPr id="9" name="Text 7"/>
          <p:cNvSpPr txBox="1"/>
          <p:nvPr/>
        </p:nvSpPr>
        <p:spPr>
          <a:xfrm>
            <a:off x="3474720" y="2148840"/>
            <a:ext cx="2194560" cy="320040"/>
          </a:xfrm>
          <a:prstGeom prst="rect">
            <a:avLst/>
          </a:prstGeom>
          <a:noFill/>
          <a:ln/>
        </p:spPr>
        <p:txBody>
          <a:bodyPr wrap="square" lIns="0" tIns="0" rIns="0" bIns="0" rtlCol="0" anchor="t"/>
          <a:lstStyle/>
          <a:p>
            <a:pPr indent="0" marL="0">
              <a:buNone/>
            </a:pPr>
            <a:r>
              <a:rPr lang="en-US" sz="1600" b="1" dirty="0">
                <a:solidFill>
                  <a:schemeClr val="tx1"/>
                </a:solidFill>
              </a:rPr>
              <a:t>end-to-end checks</a:t>
            </a:r>
            <a:endParaRPr lang="en-US" sz="1600" dirty="0"/>
          </a:p>
        </p:txBody>
      </p:sp>
      <p:sp>
        <p:nvSpPr>
          <p:cNvPr id="10" name="Text 8"/>
          <p:cNvSpPr txBox="1"/>
          <p:nvPr/>
        </p:nvSpPr>
        <p:spPr>
          <a:xfrm>
            <a:off x="3474720" y="2514600"/>
            <a:ext cx="2194560" cy="594360"/>
          </a:xfrm>
          <a:prstGeom prst="rect">
            <a:avLst/>
          </a:prstGeom>
          <a:noFill/>
          <a:ln/>
        </p:spPr>
        <p:txBody>
          <a:bodyPr wrap="square" lIns="0" tIns="0" rIns="0" bIns="0" rtlCol="0" anchor="t"/>
          <a:lstStyle/>
          <a:p>
            <a:pPr indent="0" marL="0">
              <a:buNone/>
            </a:pPr>
            <a:r>
              <a:rPr lang="en-US" sz="1200" dirty="0">
                <a:solidFill>
                  <a:schemeClr val="accent6"/>
                </a:solidFill>
              </a:rPr>
              <a:t>All real services, including 401 / 403 / 415 cases</a:t>
            </a:r>
            <a:endParaRPr lang="en-US" sz="1200" dirty="0"/>
          </a:p>
        </p:txBody>
      </p:sp>
      <p:sp>
        <p:nvSpPr>
          <p:cNvPr id="11" name="Test stat 3"/>
          <p:cNvSpPr/>
          <p:nvPr/>
        </p:nvSpPr>
        <p:spPr>
          <a:xfrm>
            <a:off x="6035040" y="1188720"/>
            <a:ext cx="2606040" cy="2011680"/>
          </a:xfrm>
          <a:prstGeom prst="roundRect">
            <a:avLst>
              <a:gd name="adj" fmla="val 3636"/>
            </a:avLst>
          </a:prstGeom>
          <a:solidFill>
            <a:schemeClr val="bg2"/>
          </a:solidFill>
          <a:ln w="12700">
            <a:solidFill>
              <a:schemeClr val="bg2"/>
            </a:solidFill>
            <a:prstDash val="solid"/>
          </a:ln>
        </p:spPr>
      </p:sp>
      <p:sp>
        <p:nvSpPr>
          <p:cNvPr id="12" name="Text 10"/>
          <p:cNvSpPr txBox="1"/>
          <p:nvPr/>
        </p:nvSpPr>
        <p:spPr>
          <a:xfrm>
            <a:off x="6263640" y="1325880"/>
            <a:ext cx="2194560" cy="822960"/>
          </a:xfrm>
          <a:prstGeom prst="rect">
            <a:avLst/>
          </a:prstGeom>
          <a:noFill/>
          <a:ln/>
        </p:spPr>
        <p:txBody>
          <a:bodyPr wrap="square" lIns="0" tIns="0" rIns="0" bIns="0" rtlCol="0" anchor="t"/>
          <a:lstStyle/>
          <a:p>
            <a:pPr indent="0" marL="0">
              <a:buNone/>
            </a:pPr>
            <a:r>
              <a:rPr lang="en-US" sz="5400" b="1" dirty="0">
                <a:solidFill>
                  <a:schemeClr val="accent1"/>
                </a:solidFill>
              </a:rPr>
              <a:t>1</a:t>
            </a:r>
            <a:endParaRPr lang="en-US" sz="5400" dirty="0"/>
          </a:p>
        </p:txBody>
      </p:sp>
      <p:sp>
        <p:nvSpPr>
          <p:cNvPr id="13" name="Text 11"/>
          <p:cNvSpPr txBox="1"/>
          <p:nvPr/>
        </p:nvSpPr>
        <p:spPr>
          <a:xfrm>
            <a:off x="6263640" y="2148840"/>
            <a:ext cx="2194560" cy="320040"/>
          </a:xfrm>
          <a:prstGeom prst="rect">
            <a:avLst/>
          </a:prstGeom>
          <a:noFill/>
          <a:ln/>
        </p:spPr>
        <p:txBody>
          <a:bodyPr wrap="square" lIns="0" tIns="0" rIns="0" bIns="0" rtlCol="0" anchor="t"/>
          <a:lstStyle/>
          <a:p>
            <a:pPr indent="0" marL="0">
              <a:buNone/>
            </a:pPr>
            <a:r>
              <a:rPr lang="en-US" sz="1600" b="1" dirty="0">
                <a:solidFill>
                  <a:schemeClr val="tx1"/>
                </a:solidFill>
              </a:rPr>
              <a:t>browser flow</a:t>
            </a:r>
            <a:endParaRPr lang="en-US" sz="1600" dirty="0"/>
          </a:p>
        </p:txBody>
      </p:sp>
      <p:sp>
        <p:nvSpPr>
          <p:cNvPr id="14" name="Text 12"/>
          <p:cNvSpPr txBox="1"/>
          <p:nvPr/>
        </p:nvSpPr>
        <p:spPr>
          <a:xfrm>
            <a:off x="6263640" y="2514600"/>
            <a:ext cx="2194560" cy="594360"/>
          </a:xfrm>
          <a:prstGeom prst="rect">
            <a:avLst/>
          </a:prstGeom>
          <a:noFill/>
          <a:ln/>
        </p:spPr>
        <p:txBody>
          <a:bodyPr wrap="square" lIns="0" tIns="0" rIns="0" bIns="0" rtlCol="0" anchor="t"/>
          <a:lstStyle/>
          <a:p>
            <a:pPr indent="0" marL="0">
              <a:buNone/>
            </a:pPr>
            <a:r>
              <a:rPr lang="en-US" sz="1200" dirty="0">
                <a:solidFill>
                  <a:schemeClr val="accent6"/>
                </a:solidFill>
              </a:rPr>
              <a:t>Chromium: upload real video, play, seek</a:t>
            </a:r>
            <a:endParaRPr lang="en-US" sz="1200" dirty="0"/>
          </a:p>
        </p:txBody>
      </p:sp>
      <p:sp>
        <p:nvSpPr>
          <p:cNvPr id="15" name="Text 13"/>
          <p:cNvSpPr txBox="1"/>
          <p:nvPr/>
        </p:nvSpPr>
        <p:spPr>
          <a:xfrm>
            <a:off x="457200" y="3474720"/>
            <a:ext cx="8229600" cy="822960"/>
          </a:xfrm>
          <a:prstGeom prst="rect">
            <a:avLst/>
          </a:prstGeom>
          <a:noFill/>
          <a:ln/>
        </p:spPr>
        <p:txBody>
          <a:bodyPr wrap="square" lIns="0" tIns="0" rIns="0" bIns="0" rtlCol="0" anchor="t"/>
          <a:lstStyle/>
          <a:p>
            <a:pPr indent="0" marL="0">
              <a:buNone/>
            </a:pPr>
            <a:r>
              <a:rPr lang="en-US" sz="1400" b="1" dirty="0">
                <a:solidFill>
                  <a:schemeClr val="tx1"/>
                </a:solidFill>
              </a:rPr>
              <a:t>Highlights: </a:t>
            </a:r>
            <a:pPr indent="0" marL="0">
              <a:buNone/>
            </a:pPr>
            <a:r>
              <a:rPr lang="en-US" sz="1400" dirty="0">
                <a:solidFill>
                  <a:schemeClr val="tx1"/>
                </a:solidFill>
              </a:rPr>
              <a:t>forged and alg:none tokens rejected · an .exe renamed to .mp4 rejected · failed DB insert removes the stored file · oversize upload leaves no partial file · path traversal blocked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rand dot"/>
          <p:cNvSpPr/>
          <p:nvPr/>
        </p:nvSpPr>
        <p:spPr>
          <a:xfrm>
            <a:off x="548640" y="594360"/>
            <a:ext cx="292608" cy="292608"/>
          </a:xfrm>
          <a:prstGeom prst="ellipse">
            <a:avLst/>
          </a:prstGeom>
          <a:solidFill>
            <a:schemeClr val="accent1"/>
          </a:solidFill>
          <a:ln w="12700">
            <a:solidFill>
              <a:schemeClr val="accent1"/>
            </a:solidFill>
            <a:prstDash val="solid"/>
          </a:ln>
        </p:spPr>
      </p:sp>
      <p:sp>
        <p:nvSpPr>
          <p:cNvPr id="3" name="Text 1"/>
          <p:cNvSpPr txBox="1"/>
          <p:nvPr/>
        </p:nvSpPr>
        <p:spPr>
          <a:xfrm>
            <a:off x="548640" y="1051560"/>
            <a:ext cx="8046720" cy="548640"/>
          </a:xfrm>
          <a:prstGeom prst="rect">
            <a:avLst/>
          </a:prstGeom>
          <a:noFill/>
          <a:ln/>
        </p:spPr>
        <p:txBody>
          <a:bodyPr wrap="square" lIns="0" tIns="0" rIns="0" bIns="0" rtlCol="0" anchor="t"/>
          <a:lstStyle/>
          <a:p>
            <a:pPr indent="0" marL="0">
              <a:buNone/>
            </a:pPr>
            <a:r>
              <a:rPr lang="en-US" sz="3200" b="1" dirty="0">
                <a:solidFill>
                  <a:schemeClr val="bg1"/>
                </a:solidFill>
              </a:rPr>
              <a:t>Run it from a clean machine</a:t>
            </a:r>
            <a:endParaRPr lang="en-US" sz="3200" dirty="0"/>
          </a:p>
        </p:txBody>
      </p:sp>
      <p:sp>
        <p:nvSpPr>
          <p:cNvPr id="4" name="Commands box"/>
          <p:cNvSpPr/>
          <p:nvPr/>
        </p:nvSpPr>
        <p:spPr>
          <a:xfrm>
            <a:off x="548640" y="1783080"/>
            <a:ext cx="8046720" cy="1325880"/>
          </a:xfrm>
          <a:prstGeom prst="roundRect">
            <a:avLst>
              <a:gd name="adj" fmla="val 5517"/>
            </a:avLst>
          </a:prstGeom>
          <a:solidFill>
            <a:srgbClr val="34343A"/>
          </a:solidFill>
          <a:ln w="12700">
            <a:solidFill>
              <a:srgbClr val="34343A"/>
            </a:solidFill>
            <a:prstDash val="solid"/>
          </a:ln>
        </p:spPr>
      </p:sp>
      <p:sp>
        <p:nvSpPr>
          <p:cNvPr id="5" name="Text 3"/>
          <p:cNvSpPr txBox="1"/>
          <p:nvPr/>
        </p:nvSpPr>
        <p:spPr>
          <a:xfrm>
            <a:off x="777240" y="1938528"/>
            <a:ext cx="7589520" cy="1051560"/>
          </a:xfrm>
          <a:prstGeom prst="rect">
            <a:avLst/>
          </a:prstGeom>
          <a:noFill/>
          <a:ln/>
        </p:spPr>
        <p:txBody>
          <a:bodyPr wrap="square" lIns="0" tIns="0" rIns="0" bIns="0" rtlCol="0" anchor="t"/>
          <a:lstStyle/>
          <a:p>
            <a:pPr indent="0" marL="0">
              <a:spcAft>
                <a:spcPts val="400"/>
              </a:spcAft>
              <a:buNone/>
            </a:pPr>
            <a:r>
              <a:rPr lang="en-US" sz="1600" dirty="0">
                <a:solidFill>
                  <a:srgbClr val="F2F3F5"/>
                </a:solidFill>
                <a:latin typeface="Courier New" pitchFamily="34" charset="0"/>
                <a:ea typeface="Courier New" pitchFamily="34" charset="-122"/>
                <a:cs typeface="Courier New" pitchFamily="34" charset="-120"/>
              </a:rPr>
              <a:t>./scripts/init-secrets.sh --show-admin</a:t>
            </a:r>
            <a:endParaRPr lang="en-US" sz="1600" dirty="0"/>
          </a:p>
          <a:p>
            <a:pPr indent="0" marL="0">
              <a:spcAft>
                <a:spcPts val="400"/>
              </a:spcAft>
              <a:buNone/>
            </a:pPr>
            <a:r>
              <a:rPr lang="en-US" sz="1600" dirty="0">
                <a:solidFill>
                  <a:srgbClr val="F2F3F5"/>
                </a:solidFill>
                <a:latin typeface="Courier New" pitchFamily="34" charset="0"/>
                <a:ea typeface="Courier New" pitchFamily="34" charset="-122"/>
                <a:cs typeface="Courier New" pitchFamily="34" charset="-120"/>
              </a:rPr>
              <a:t>docker compose up -d --build --wait</a:t>
            </a:r>
            <a:endParaRPr lang="en-US" sz="1600" dirty="0"/>
          </a:p>
          <a:p>
            <a:pPr indent="0" marL="0">
              <a:spcAft>
                <a:spcPts val="400"/>
              </a:spcAft>
              <a:buNone/>
            </a:pPr>
            <a:r>
              <a:rPr lang="en-US" sz="1600" dirty="0">
                <a:solidFill>
                  <a:srgbClr val="F2F3F5"/>
                </a:solidFill>
                <a:latin typeface="Courier New" pitchFamily="34" charset="0"/>
                <a:ea typeface="Courier New" pitchFamily="34" charset="-122"/>
                <a:cs typeface="Courier New" pitchFamily="34" charset="-120"/>
              </a:rPr>
              <a:t>open localhost:8081 (upload) and localhost:8082 (watch)</a:t>
            </a:r>
            <a:endParaRPr lang="en-US" sz="1600" dirty="0"/>
          </a:p>
        </p:txBody>
      </p:sp>
      <p:sp>
        <p:nvSpPr>
          <p:cNvPr id="6" name="Text 4"/>
          <p:cNvSpPr txBox="1"/>
          <p:nvPr/>
        </p:nvSpPr>
        <p:spPr>
          <a:xfrm>
            <a:off x="548640" y="3474720"/>
            <a:ext cx="8046720" cy="640080"/>
          </a:xfrm>
          <a:prstGeom prst="rect">
            <a:avLst/>
          </a:prstGeom>
          <a:noFill/>
          <a:ln/>
        </p:spPr>
        <p:txBody>
          <a:bodyPr wrap="square" lIns="0" tIns="0" rIns="0" bIns="0" rtlCol="0" anchor="t"/>
          <a:lstStyle/>
          <a:p>
            <a:pPr indent="0" marL="0">
              <a:buNone/>
            </a:pPr>
            <a:r>
              <a:rPr lang="en-US" sz="3600" b="1" dirty="0">
                <a:solidFill>
                  <a:schemeClr val="accent1"/>
                </a:solidFill>
              </a:rPr>
              <a:t>Questions?</a:t>
            </a:r>
            <a:endParaRPr lang="en-US" sz="3600" dirty="0"/>
          </a:p>
        </p:txBody>
      </p:sp>
      <p:sp>
        <p:nvSpPr>
          <p:cNvPr id="8" name="Text 0"/>
          <p:cNvSpPr/>
          <p:nvPr>
            <p:ph idx="100" type="title" hasCustomPrompt="1"/>
          </p:nvPr>
        </p:nvSpPr>
        <p:spPr>
          <a:xfrm>
            <a:off x="548640" y="1417320"/>
            <a:ext cx="8046720" cy="1097280"/>
          </a:xfrm>
          <a:prstGeom prst="rect">
            <a:avLst/>
          </a:prstGeom>
          <a:noFill/>
          <a:ln/>
        </p:spPr>
        <p:txBody>
          <a:bodyPr wrap="square" lIns="0" tIns="0" rIns="0" bIns="0" rtlCol="0" anchor="b"/>
          <a:lstStyle/>
          <a:p>
            <a:pPr algn="l" indent="0" marL="0">
              <a:buNone/>
            </a:pPr>
            <a:endParaRPr lang="en-US" sz="4400" dirty="0"/>
          </a:p>
        </p:txBody>
      </p:sp>
      <p:sp>
        <p:nvSpPr>
          <p:cNvPr id="9" name="Text 0"/>
          <p:cNvSpPr/>
          <p:nvPr>
            <p:ph idx="101" type="body" hasCustomPrompt="1"/>
          </p:nvPr>
        </p:nvSpPr>
        <p:spPr>
          <a:xfrm>
            <a:off x="548640" y="2651760"/>
            <a:ext cx="8046720" cy="91440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VSS Signal">
  <a:themeElements>
    <a:clrScheme name="VSS Signal">
      <a:dk1>
        <a:srgbClr val="1D1D1F"/>
      </a:dk1>
      <a:lt1>
        <a:srgbClr val="FFFFFF"/>
      </a:lt1>
      <a:dk2>
        <a:srgbClr val="26262B"/>
      </a:dk2>
      <a:lt2>
        <a:srgbClr val="F2F3F5"/>
      </a:lt2>
      <a:accent1>
        <a:srgbClr val="D6452F"/>
      </a:accent1>
      <a:accent2>
        <a:srgbClr val="2C4A86"/>
      </a:accent2>
      <a:accent3>
        <a:srgbClr val="2F7D4F"/>
      </a:accent3>
      <a:accent4>
        <a:srgbClr val="E8A33D"/>
      </a:accent4>
      <a:accent5>
        <a:srgbClr val="6B6B70"/>
      </a:accent5>
      <a:accent6>
        <a:srgbClr val="4A5568"/>
      </a:accent6>
      <a:hlink>
        <a:srgbClr val="2C4A86"/>
      </a:hlink>
      <a:folHlink>
        <a:srgbClr val="6B6B70"/>
      </a:folHlink>
    </a:clrScheme>
    <a:fontScheme name="VSS Sig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Streaming System</dc:title>
  <dc:subject>PptxGenJS Presentation</dc:subject>
  <dc:creator>CIT3495 Project 1</dc:creator>
  <cp:lastModifiedBy>CIT3495 Project 1</cp:lastModifiedBy>
  <cp:revision>1</cp:revision>
  <dcterms:created xsi:type="dcterms:W3CDTF">2026-10-22T01:31:45Z</dcterms:created>
  <dcterms:modified xsi:type="dcterms:W3CDTF">2026-10-22T01:31:45Z</dcterms:modified>
</cp:coreProperties>
</file>